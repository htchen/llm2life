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這是教材本身的走查，不是課程本身。二十分鐘內講完論證、課程設計、三小時流程、以及教材怎麼維護。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學員用自己的 GitHub 帳號和 Claude 帳號，從生活或工作中的真實問題出發，最後展示一個可操作的最小版本。教材本身是六個資料夾，講師、學員兩邊都齊。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第一段：這堂課要學員相信的是什麼。投影片上只有結論，理由寫在 instructor/insights.md。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這是整套教材的骨幹主張。三件事缺一不可，而課程只教得動其中兩件的判斷能力。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生成工具降低的是第二項的部分成本。第一與第三項沒有被取代，因此在課程時間分配上占更高比例。這也是為什麼共同練習只占 25 分鐘，發想與規劃合計 50 分鐘。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共同練習之後就收在這句。請學員回答：看到第一版後，你才發現哪一項需求沒有寫？第一版不是最終答案，而是用來取得具體回饋。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洞見講稿分成六段，對應課程的六個時刻。每一段講師都有固定的提問方式，這份文件同時寫了被挑戰時怎麼回。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第二段：課程結構怎麼排，以及為什麼這樣排。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固定案例只建立共同操作基礎，不是全班必做的成果。個人專題要來自熟悉的情境，因為使用者本人最能判斷問題是否真實。兩者放在同一個 repo。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這個循環是課程的主線，也是學員帶得走的東西。今天完成的不是一組固定答案，而是一套可以重複使用的工作方式。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這是全課的編排原則，也是講師巡視時的判準：先問你這一步的驗收條件是什麼，不要先看功能數量。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「這次不做」不是附帶項目，而是範圍管理的核心。若學員無法列出不做內容，通常表示題目仍過大。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第三段：時間與順序。instructor/timeline.md 是唯一真實來源，動到時間先改那份。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注意比例：共同操作基礎 65 分，發想與規劃 50 分，實作與展示 50 分。發想與規劃拿到的時間和實作一樣多，這是刻意的。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第四段：教材本身。誰用哪一份、開課前要確認什麼、改教材時要同步什麼。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先讀 timeline.md 和 insights.md。投影片上只有結論，理由在 insights.md。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免費帳號本身就無法使用 Claude Code，換任何模型都一樣，這不是模型的限制，是方案的限制。免費變體用相同的開放式專題架構，但改以聊天介面加 GitHub 網頁操作。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這四件事沒確認，課程前段就會花在裝軟體和開帳號上。課前通知信一定要寄。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改教材時最容易出錯的地方。細節見 CLAUDE.md。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收束說法：AI 可以協助整理、規劃與實作；問題是否值得處理、目標如何取捨、結果是否正確，仍需要由使用者判斷。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htchen / LLM2Life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592461"/>
            <a:ext cx="11019312" cy="213806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2639"/>
              </a:lnSpc>
              <a:buNone/>
            </a:pPr>
            <a:r>
              <a:rPr lang="en-US" sz="7800" b="1" spc="78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用 Claude Code 把發想做成可操作工具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4016276"/>
            <a:ext cx="8169176" cy="6295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4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三小時實作工作坊的完整教材</a:t>
            </a:r>
            <a:endParaRPr lang="en-US" sz="3450" dirty="0"/>
          </a:p>
        </p:txBody>
      </p:sp>
      <p:sp>
        <p:nvSpPr>
          <p:cNvPr id="5" name="Shape 3"/>
          <p:cNvSpPr/>
          <p:nvPr/>
        </p:nvSpPr>
        <p:spPr>
          <a:xfrm>
            <a:off x="990600" y="7955459"/>
            <a:ext cx="7410450" cy="156954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19225" y="8288834"/>
            <a:ext cx="335280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對象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19225" y="8719245"/>
            <a:ext cx="33528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沒有程式背景的一般人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229225" y="8288834"/>
            <a:ext cx="301752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走查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229225" y="8719245"/>
            <a:ext cx="301752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教材內容與維護方式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OVERVIEW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教材概觀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8954988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9223638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學員用自己的 GitHub 帳號和 Claude 帳號，逐步完成發想、規劃、實作與驗證，最後展示一個可操作的最小版本。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90600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343025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1343025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小時</a:t>
            </a:r>
            <a:endParaRPr lang="en-US" sz="3450" dirty="0"/>
          </a:p>
        </p:txBody>
      </p:sp>
      <p:sp>
        <p:nvSpPr>
          <p:cNvPr id="9" name="Text 7"/>
          <p:cNvSpPr/>
          <p:nvPr/>
        </p:nvSpPr>
        <p:spPr>
          <a:xfrm>
            <a:off x="1343025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含休息，單場完成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6565850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918275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7200" dirty="0"/>
          </a:p>
        </p:txBody>
      </p:sp>
      <p:sp>
        <p:nvSpPr>
          <p:cNvPr id="12" name="Text 10"/>
          <p:cNvSpPr/>
          <p:nvPr/>
        </p:nvSpPr>
        <p:spPr>
          <a:xfrm>
            <a:off x="6918275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頁投影片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6918275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Marp，含備忘稿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12141101" y="4687044"/>
            <a:ext cx="5156150" cy="2871639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493526" y="5077569"/>
            <a:ext cx="4896430" cy="9525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273"/>
              </a:lnSpc>
              <a:buNone/>
            </a:pPr>
            <a:r>
              <a:rPr lang="en-US" sz="7200" dirty="0">
                <a:solidFill>
                  <a:srgbClr val="4161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7200" dirty="0"/>
          </a:p>
        </p:txBody>
      </p:sp>
      <p:sp>
        <p:nvSpPr>
          <p:cNvPr id="16" name="Text 14"/>
          <p:cNvSpPr/>
          <p:nvPr/>
        </p:nvSpPr>
        <p:spPr>
          <a:xfrm>
            <a:off x="12493526" y="6125319"/>
            <a:ext cx="489643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個資料夾</a:t>
            </a:r>
            <a:endParaRPr lang="en-US" sz="3450" dirty="0"/>
          </a:p>
        </p:txBody>
      </p:sp>
      <p:sp>
        <p:nvSpPr>
          <p:cNvPr id="17" name="Text 15"/>
          <p:cNvSpPr/>
          <p:nvPr/>
        </p:nvSpPr>
        <p:spPr>
          <a:xfrm>
            <a:off x="12493526" y="6784330"/>
            <a:ext cx="489643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講師、學員與免費變體</a:t>
            </a:r>
            <a:endParaRPr lang="en-US" sz="1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論證基礎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課程要成立，先要說清楚生成工具改變了什麼、沒有改變什麼。</a:t>
            </a:r>
            <a:endParaRPr lang="en-US" sz="3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做軟體的三件事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5643771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90600" y="3647033"/>
            <a:ext cx="5643771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知道要什麼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990600" y="4380756"/>
            <a:ext cx="5284622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問題是否真實、值不值得處理，由使用者本人判斷。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578501" y="3102322"/>
            <a:ext cx="56439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578501" y="3647033"/>
            <a:ext cx="5643935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轉成機器可以執行的形式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6578501" y="4380756"/>
            <a:ext cx="5284775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過去這一項需要程式能力，是多數人的門檻。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2166550" y="3102322"/>
            <a:ext cx="56439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166550" y="3647033"/>
            <a:ext cx="5643935" cy="5813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630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確認結果正確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2166550" y="4380756"/>
            <a:ext cx="5284775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要有驗收條件，才能說結果符合需求。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ARGUMENT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生成工具改變的是哪一項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5206901" cy="2292400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04925" y="3454747"/>
            <a:ext cx="5036076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知道要什麼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304925" y="4132808"/>
            <a:ext cx="5036076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成本不變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6540401" y="3102322"/>
            <a:ext cx="5207050" cy="2292400"/>
          </a:xfrm>
          <a:prstGeom prst="rect">
            <a:avLst/>
          </a:prstGeom>
          <a:solidFill>
            <a:srgbClr val="EEF6FF"/>
          </a:solidFill>
          <a:ln w="9525">
            <a:solidFill>
              <a:srgbClr val="5980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4726" y="3454747"/>
            <a:ext cx="4715752" cy="10894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轉成機器可以執行的形式</a:t>
            </a:r>
            <a:endParaRPr lang="en-US" sz="3450" dirty="0"/>
          </a:p>
        </p:txBody>
      </p:sp>
      <p:sp>
        <p:nvSpPr>
          <p:cNvPr id="10" name="Text 8"/>
          <p:cNvSpPr/>
          <p:nvPr/>
        </p:nvSpPr>
        <p:spPr>
          <a:xfrm>
            <a:off x="6854726" y="4658469"/>
            <a:ext cx="503624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部分成本下降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12090350" y="3102322"/>
            <a:ext cx="5207050" cy="2292400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2404675" y="3454747"/>
            <a:ext cx="5036240" cy="5637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2222"/>
              </a:lnSpc>
              <a:buNone/>
            </a:pPr>
            <a:r>
              <a:rPr lang="en-US" sz="34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確認結果正確</a:t>
            </a:r>
            <a:endParaRPr lang="en-US" sz="3450" dirty="0"/>
          </a:p>
        </p:txBody>
      </p:sp>
      <p:sp>
        <p:nvSpPr>
          <p:cNvPr id="13" name="Text 11"/>
          <p:cNvSpPr/>
          <p:nvPr/>
        </p:nvSpPr>
        <p:spPr>
          <a:xfrm>
            <a:off x="12404675" y="4132808"/>
            <a:ext cx="503624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成本不變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90600" y="5928122"/>
            <a:ext cx="9933078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只有中間一項的成本下降，因此需求釐清與驗證會在整個流程裡占更高比例——課程的時間分配就是照這個比例排的。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38896"/>
            <a:ext cx="17937480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69565"/>
              </a:lnSpc>
              <a:buNone/>
            </a:pPr>
            <a:r>
              <a:rPr lang="en-US" sz="135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705796"/>
            <a:ext cx="9966342" cy="20832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5255"/>
              </a:lnSpc>
              <a:buNone/>
            </a:pPr>
            <a:r>
              <a:rPr lang="en-US" sz="66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尚未釐清的需求，無法完整交給人或 AI 執行。</a:t>
            </a:r>
            <a:endParaRPr lang="en-US" sz="6600" dirty="0"/>
          </a:p>
        </p:txBody>
      </p:sp>
      <p:sp>
        <p:nvSpPr>
          <p:cNvPr id="4" name="Text 2"/>
          <p:cNvSpPr/>
          <p:nvPr/>
        </p:nvSpPr>
        <p:spPr>
          <a:xfrm>
            <a:off x="990600" y="7246293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instructor/insights.md — 共同練習之後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INSIGHTS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六個階段的教學重點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89846"/>
            <a:ext cx="358735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87997"/>
            <a:ext cx="3466374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階段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7953" y="3289846"/>
            <a:ext cx="1271944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577953" y="2787997"/>
            <a:ext cx="13101030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教學重點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90600" y="4190851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508921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共同練習之後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4577953" y="4190851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4577953" y="3508921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需求會在看到結果後變得更明確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90600" y="5091857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990600" y="4409926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發想階段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4577953" y="5091857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4577953" y="4409926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先確認問題，再討論功能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90600" y="5992862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5310932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定義階段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4577953" y="5992862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577953" y="5310932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最小版本需要明確的邊界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990600" y="6893868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" y="6211937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規劃階段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4577953" y="6893868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4577953" y="6211937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每一步都要能被驗收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90600" y="7794873"/>
            <a:ext cx="358735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990600" y="7112943"/>
            <a:ext cx="3466374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實作階段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4577953" y="7794873"/>
            <a:ext cx="1271944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4577953" y="7112943"/>
            <a:ext cx="131010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以驗收條件帶動迭代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90600" y="8013948"/>
            <a:ext cx="3466374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展示階段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577953" y="8013948"/>
            <a:ext cx="13101030" cy="51524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展示判斷，不比較完成度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課程設計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漸進式開放：先建立基本操作能力，再由學員提出真實需求。</a:t>
            </a:r>
            <a:endParaRPr lang="en-US" sz="3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STRUCTURE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漸進式開放的兩段結構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3109764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81125" y="3530947"/>
            <a:ext cx="78162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前段 · 25 分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81125" y="4094708"/>
            <a:ext cx="7816215" cy="572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926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共同練習：記帳小工具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1381125" y="4838700"/>
            <a:ext cx="7318820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題目固定。描述、修改、驗證各做一次，建立基本操作能力。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3109764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01225" y="3530947"/>
            <a:ext cx="781621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後段 · 100 分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801225" y="4094708"/>
            <a:ext cx="7816215" cy="57254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3926"/>
              </a:lnSpc>
              <a:buNone/>
            </a:pPr>
            <a:r>
              <a:rPr lang="en-US" sz="3450" b="1" spc="-52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個人專題：學員自己的題目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9801225" y="4838700"/>
            <a:ext cx="7318820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題目開放。從生活或工作的真實問題縮小到可驗證的最小版本。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90600" y="6707386"/>
            <a:ext cx="16796004" cy="45333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兩段都放在同一個 repo（</a:t>
            </a:r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my-life-tools</a:t>
            </a:r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）。每日摘要與習慣追蹤案例保留為備用路徑與課後參考。</a:t>
            </a:r>
            <a:endParaRPr lang="en-US" sz="1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CYCLE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專題循環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77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477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提出問題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1435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006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4006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選定題目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2964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535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5535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定義最小目標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449300" y="3102322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06475" y="3397597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06475" y="3885158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寫出驗收條件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9906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477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477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拆解步驟</a:t>
            </a:r>
            <a:endParaRPr lang="en-US" sz="3000" dirty="0"/>
          </a:p>
        </p:txBody>
      </p:sp>
      <p:sp>
        <p:nvSpPr>
          <p:cNvPr id="20" name="Shape 18"/>
          <p:cNvSpPr/>
          <p:nvPr/>
        </p:nvSpPr>
        <p:spPr>
          <a:xfrm>
            <a:off x="51435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006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4006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分段實作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9296400" y="4942433"/>
            <a:ext cx="3848100" cy="1535311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5535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535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驗證</a:t>
            </a:r>
            <a:endParaRPr lang="en-US" sz="3000" dirty="0"/>
          </a:p>
        </p:txBody>
      </p:sp>
      <p:sp>
        <p:nvSpPr>
          <p:cNvPr id="26" name="Shape 24"/>
          <p:cNvSpPr/>
          <p:nvPr/>
        </p:nvSpPr>
        <p:spPr>
          <a:xfrm>
            <a:off x="13449300" y="4942433"/>
            <a:ext cx="3848100" cy="1535311"/>
          </a:xfrm>
          <a:prstGeom prst="rect">
            <a:avLst/>
          </a:prstGeom>
          <a:solidFill>
            <a:srgbClr val="EEF6FF"/>
          </a:solidFill>
          <a:ln w="9525">
            <a:solidFill>
              <a:srgbClr val="5980A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3706475" y="5237708"/>
            <a:ext cx="366712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3706475" y="5725269"/>
            <a:ext cx="3667125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6667"/>
              </a:lnSpc>
              <a:buNone/>
            </a:pPr>
            <a:r>
              <a:rPr lang="en-US" sz="30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展示與規劃下一版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990600" y="6973044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計畫是目前的最佳理解，不是不能改動的規則。結果讓學員改變需求時，先更新簡述或計畫，再修改檔案。</a:t>
            </a:r>
            <a:endParaRPr lang="en-US" sz="1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PRINCIPLE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編排原則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7104757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7317900" cy="14248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420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先形成自己的判斷，再請 AI 協助。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990600" y="5060603"/>
            <a:ext cx="867537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發想階段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990600" y="5567214"/>
            <a:ext cx="867537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先描述問題，不先要求 AI 提供解法。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410700" y="5060603"/>
            <a:ext cx="867537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規劃階段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410700" y="5567214"/>
            <a:ext cx="8123301" cy="9828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054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先由學員界定目標與限制，再請 AI 協助檢查範圍與拆解步驟。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990600" y="7045375"/>
            <a:ext cx="1793748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每一輪實作都以學員自己寫出的驗收條件判斷結果。</a:t>
            </a:r>
            <a:endParaRPr lang="en-US" sz="1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題目邊界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適合課堂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42911" y="3685133"/>
            <a:ext cx="7696289" cy="3524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一個主要使用者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一個核心問題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一個可展示流程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2–3 項必要功能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可用畫面或操作驗證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低風險、可回復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525000" y="3102322"/>
            <a:ext cx="854964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列入後續版本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677311" y="3685133"/>
            <a:ext cx="7696289" cy="3524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登入、資料庫、付款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多人即時同步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醫療或法律判斷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敏感個資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大量外部資料整合</a:t>
            </a:r>
            <a:endParaRPr lang="en-US" sz="2400" dirty="0"/>
          </a:p>
          <a:p>
            <a:pPr algn="l" marL="213360" indent="-213360">
              <a:lnSpc>
                <a:spcPct val="151351"/>
              </a:lnSpc>
              <a:buSzPct val="100000"/>
              <a:buChar char="•"/>
              <a:tabLst>
                <a:tab pos="213360" algn="l"/>
              </a:tabLst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自動對外寄送</a:t>
            </a:r>
            <a:endParaRPr lang="en-US" sz="2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三小時流程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十二個段落。時間與順序的唯一真實來源是 instructor/timeline.md。</a:t>
            </a:r>
            <a:endParaRPr lang="en-US" sz="34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762000"/>
            <a:ext cx="3467725" cy="6247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4769"/>
              </a:lnSpc>
              <a:buNone/>
            </a:pPr>
            <a:r>
              <a:rPr lang="en-US" sz="4200" b="1" spc="-63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三小時流程表</a:t>
            </a:r>
            <a:endParaRPr lang="en-US" sz="4200" dirty="0"/>
          </a:p>
        </p:txBody>
      </p:sp>
      <p:sp>
        <p:nvSpPr>
          <p:cNvPr id="3" name="Text 1"/>
          <p:cNvSpPr/>
          <p:nvPr/>
        </p:nvSpPr>
        <p:spPr>
          <a:xfrm>
            <a:off x="4447877" y="1019175"/>
            <a:ext cx="3994547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instructor/timeline.md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990600" y="221158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1687711"/>
            <a:ext cx="4366857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開場 + Demo</a:t>
            </a:r>
            <a:endParaRPr lang="en-US" sz="2250" dirty="0"/>
          </a:p>
        </p:txBody>
      </p:sp>
      <p:sp>
        <p:nvSpPr>
          <p:cNvPr id="6" name="Shape 4"/>
          <p:cNvSpPr/>
          <p:nvPr/>
        </p:nvSpPr>
        <p:spPr>
          <a:xfrm>
            <a:off x="5230267" y="221158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7" name="Text 5"/>
          <p:cNvSpPr/>
          <p:nvPr/>
        </p:nvSpPr>
        <p:spPr>
          <a:xfrm>
            <a:off x="5230267" y="1687711"/>
            <a:ext cx="10413651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現場三分鐘做出一個東西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15340608" y="221158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15264408" y="1687711"/>
            <a:ext cx="2032992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90600" y="283547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230683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觀念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5230267" y="283547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267" y="230683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/ repo / GitHub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15340608" y="283547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15264408" y="230683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90600" y="345936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293072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Lab 0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230267" y="345936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5230267" y="293072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環境 + 建 repo + 確認可以上傳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5340608" y="345936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15264408" y="293072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分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90600" y="4083248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" y="3554611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5230267" y="4083248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5230267" y="3554611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記帳小工具：描述、修改、驗證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15340608" y="408324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15264408" y="3554611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分</a:t>
            </a:r>
            <a:endParaRPr lang="en-US" sz="2250" dirty="0"/>
          </a:p>
        </p:txBody>
      </p:sp>
      <p:sp>
        <p:nvSpPr>
          <p:cNvPr id="28" name="Shape 26"/>
          <p:cNvSpPr/>
          <p:nvPr/>
        </p:nvSpPr>
        <p:spPr>
          <a:xfrm>
            <a:off x="990600" y="470713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9" name="Text 27"/>
          <p:cNvSpPr/>
          <p:nvPr/>
        </p:nvSpPr>
        <p:spPr>
          <a:xfrm>
            <a:off x="990600" y="4178498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回顧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5230267" y="470713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1" name="Text 29"/>
          <p:cNvSpPr/>
          <p:nvPr/>
        </p:nvSpPr>
        <p:spPr>
          <a:xfrm>
            <a:off x="5230267" y="4178498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修改結果如何協助釐清需求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15340608" y="470713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3" name="Text 31"/>
          <p:cNvSpPr/>
          <p:nvPr/>
        </p:nvSpPr>
        <p:spPr>
          <a:xfrm>
            <a:off x="15264408" y="4178498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分</a:t>
            </a:r>
            <a:endParaRPr lang="en-US" sz="2250" dirty="0"/>
          </a:p>
        </p:txBody>
      </p:sp>
      <p:sp>
        <p:nvSpPr>
          <p:cNvPr id="34" name="Shape 32"/>
          <p:cNvSpPr/>
          <p:nvPr/>
        </p:nvSpPr>
        <p:spPr>
          <a:xfrm>
            <a:off x="990600" y="533102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5" name="Text 33"/>
          <p:cNvSpPr/>
          <p:nvPr/>
        </p:nvSpPr>
        <p:spPr>
          <a:xfrm>
            <a:off x="990600" y="480238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休息</a:t>
            </a:r>
            <a:endParaRPr lang="en-US" sz="2250" dirty="0"/>
          </a:p>
        </p:txBody>
      </p:sp>
      <p:sp>
        <p:nvSpPr>
          <p:cNvPr id="36" name="Shape 34"/>
          <p:cNvSpPr/>
          <p:nvPr/>
        </p:nvSpPr>
        <p:spPr>
          <a:xfrm>
            <a:off x="5230267" y="533102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7" name="Text 35"/>
          <p:cNvSpPr/>
          <p:nvPr/>
        </p:nvSpPr>
        <p:spPr>
          <a:xfrm>
            <a:off x="5230267" y="480238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15340608" y="533102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9" name="Text 37"/>
          <p:cNvSpPr/>
          <p:nvPr/>
        </p:nvSpPr>
        <p:spPr>
          <a:xfrm>
            <a:off x="15264408" y="480238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98989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  <p:sp>
        <p:nvSpPr>
          <p:cNvPr id="40" name="Shape 38"/>
          <p:cNvSpPr/>
          <p:nvPr/>
        </p:nvSpPr>
        <p:spPr>
          <a:xfrm>
            <a:off x="990600" y="595491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1" name="Text 39"/>
          <p:cNvSpPr/>
          <p:nvPr/>
        </p:nvSpPr>
        <p:spPr>
          <a:xfrm>
            <a:off x="990600" y="542627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蒐集發想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5230267" y="595491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3" name="Text 41"/>
          <p:cNvSpPr/>
          <p:nvPr/>
        </p:nvSpPr>
        <p:spPr>
          <a:xfrm>
            <a:off x="5230267" y="542627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從生活與工作問題選定專題</a:t>
            </a:r>
            <a:endParaRPr lang="en-US" sz="2100" dirty="0"/>
          </a:p>
        </p:txBody>
      </p:sp>
      <p:sp>
        <p:nvSpPr>
          <p:cNvPr id="44" name="Shape 42"/>
          <p:cNvSpPr/>
          <p:nvPr/>
        </p:nvSpPr>
        <p:spPr>
          <a:xfrm>
            <a:off x="15340608" y="595491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5" name="Text 43"/>
          <p:cNvSpPr/>
          <p:nvPr/>
        </p:nvSpPr>
        <p:spPr>
          <a:xfrm>
            <a:off x="15264408" y="542627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</a:t>
            </a:r>
            <a:endParaRPr lang="en-US" sz="2250" dirty="0"/>
          </a:p>
        </p:txBody>
      </p:sp>
      <p:sp>
        <p:nvSpPr>
          <p:cNvPr id="46" name="Shape 44"/>
          <p:cNvSpPr/>
          <p:nvPr/>
        </p:nvSpPr>
        <p:spPr>
          <a:xfrm>
            <a:off x="990600" y="6578798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7" name="Text 45"/>
          <p:cNvSpPr/>
          <p:nvPr/>
        </p:nvSpPr>
        <p:spPr>
          <a:xfrm>
            <a:off x="990600" y="6050161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定義目標</a:t>
            </a:r>
            <a:endParaRPr lang="en-US" sz="2250" dirty="0"/>
          </a:p>
        </p:txBody>
      </p:sp>
      <p:sp>
        <p:nvSpPr>
          <p:cNvPr id="48" name="Shape 46"/>
          <p:cNvSpPr/>
          <p:nvPr/>
        </p:nvSpPr>
        <p:spPr>
          <a:xfrm>
            <a:off x="5230267" y="6578798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49" name="Text 47"/>
          <p:cNvSpPr/>
          <p:nvPr/>
        </p:nvSpPr>
        <p:spPr>
          <a:xfrm>
            <a:off x="5230267" y="6050161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專題簡述、最小範圍與驗收條件</a:t>
            </a:r>
            <a:endParaRPr lang="en-US" sz="2100" dirty="0"/>
          </a:p>
        </p:txBody>
      </p:sp>
      <p:sp>
        <p:nvSpPr>
          <p:cNvPr id="50" name="Shape 48"/>
          <p:cNvSpPr/>
          <p:nvPr/>
        </p:nvSpPr>
        <p:spPr>
          <a:xfrm>
            <a:off x="15340608" y="657879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1" name="Text 49"/>
          <p:cNvSpPr/>
          <p:nvPr/>
        </p:nvSpPr>
        <p:spPr>
          <a:xfrm>
            <a:off x="15264408" y="6050161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分</a:t>
            </a:r>
            <a:endParaRPr lang="en-US" sz="2250" dirty="0"/>
          </a:p>
        </p:txBody>
      </p:sp>
      <p:sp>
        <p:nvSpPr>
          <p:cNvPr id="52" name="Shape 50"/>
          <p:cNvSpPr/>
          <p:nvPr/>
        </p:nvSpPr>
        <p:spPr>
          <a:xfrm>
            <a:off x="990600" y="7202686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3" name="Text 51"/>
          <p:cNvSpPr/>
          <p:nvPr/>
        </p:nvSpPr>
        <p:spPr>
          <a:xfrm>
            <a:off x="990600" y="6674048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拆解計畫</a:t>
            </a:r>
            <a:endParaRPr lang="en-US" sz="2250" dirty="0"/>
          </a:p>
        </p:txBody>
      </p:sp>
      <p:sp>
        <p:nvSpPr>
          <p:cNvPr id="54" name="Shape 52"/>
          <p:cNvSpPr/>
          <p:nvPr/>
        </p:nvSpPr>
        <p:spPr>
          <a:xfrm>
            <a:off x="5230267" y="7202686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5" name="Text 53"/>
          <p:cNvSpPr/>
          <p:nvPr/>
        </p:nvSpPr>
        <p:spPr>
          <a:xfrm>
            <a:off x="5230267" y="6674048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2–4 個可驗收步驟</a:t>
            </a:r>
            <a:endParaRPr lang="en-US" sz="2100" dirty="0"/>
          </a:p>
        </p:txBody>
      </p:sp>
      <p:sp>
        <p:nvSpPr>
          <p:cNvPr id="56" name="Shape 54"/>
          <p:cNvSpPr/>
          <p:nvPr/>
        </p:nvSpPr>
        <p:spPr>
          <a:xfrm>
            <a:off x="15340608" y="720268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7" name="Text 55"/>
          <p:cNvSpPr/>
          <p:nvPr/>
        </p:nvSpPr>
        <p:spPr>
          <a:xfrm>
            <a:off x="15264408" y="6674048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</a:t>
            </a:r>
            <a:endParaRPr lang="en-US" sz="2250" dirty="0"/>
          </a:p>
        </p:txBody>
      </p:sp>
      <p:sp>
        <p:nvSpPr>
          <p:cNvPr id="58" name="Shape 56"/>
          <p:cNvSpPr/>
          <p:nvPr/>
        </p:nvSpPr>
        <p:spPr>
          <a:xfrm>
            <a:off x="990600" y="7826573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59" name="Text 57"/>
          <p:cNvSpPr/>
          <p:nvPr/>
        </p:nvSpPr>
        <p:spPr>
          <a:xfrm>
            <a:off x="990600" y="7297936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實作第一輪</a:t>
            </a:r>
            <a:endParaRPr lang="en-US" sz="2250" dirty="0"/>
          </a:p>
        </p:txBody>
      </p:sp>
      <p:sp>
        <p:nvSpPr>
          <p:cNvPr id="60" name="Shape 58"/>
          <p:cNvSpPr/>
          <p:nvPr/>
        </p:nvSpPr>
        <p:spPr>
          <a:xfrm>
            <a:off x="5230267" y="7826573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1" name="Text 59"/>
          <p:cNvSpPr/>
          <p:nvPr/>
        </p:nvSpPr>
        <p:spPr>
          <a:xfrm>
            <a:off x="5230267" y="7297936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完成核心流程並保存版本</a:t>
            </a:r>
            <a:endParaRPr lang="en-US" sz="2100" dirty="0"/>
          </a:p>
        </p:txBody>
      </p:sp>
      <p:sp>
        <p:nvSpPr>
          <p:cNvPr id="62" name="Shape 60"/>
          <p:cNvSpPr/>
          <p:nvPr/>
        </p:nvSpPr>
        <p:spPr>
          <a:xfrm>
            <a:off x="15340608" y="7826573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3" name="Text 61"/>
          <p:cNvSpPr/>
          <p:nvPr/>
        </p:nvSpPr>
        <p:spPr>
          <a:xfrm>
            <a:off x="15264408" y="7297936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分</a:t>
            </a:r>
            <a:endParaRPr lang="en-US" sz="2250" dirty="0"/>
          </a:p>
        </p:txBody>
      </p:sp>
      <p:sp>
        <p:nvSpPr>
          <p:cNvPr id="64" name="Shape 62"/>
          <p:cNvSpPr/>
          <p:nvPr/>
        </p:nvSpPr>
        <p:spPr>
          <a:xfrm>
            <a:off x="990600" y="8450461"/>
            <a:ext cx="4239667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5" name="Text 63"/>
          <p:cNvSpPr/>
          <p:nvPr/>
        </p:nvSpPr>
        <p:spPr>
          <a:xfrm>
            <a:off x="990600" y="7921823"/>
            <a:ext cx="4366857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實作第二輪</a:t>
            </a:r>
            <a:endParaRPr lang="en-US" sz="2250" dirty="0"/>
          </a:p>
        </p:txBody>
      </p:sp>
      <p:sp>
        <p:nvSpPr>
          <p:cNvPr id="66" name="Shape 64"/>
          <p:cNvSpPr/>
          <p:nvPr/>
        </p:nvSpPr>
        <p:spPr>
          <a:xfrm>
            <a:off x="5230267" y="8450461"/>
            <a:ext cx="10110341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7" name="Text 65"/>
          <p:cNvSpPr/>
          <p:nvPr/>
        </p:nvSpPr>
        <p:spPr>
          <a:xfrm>
            <a:off x="5230267" y="7921823"/>
            <a:ext cx="10413651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增加一項功能、驗證並發布</a:t>
            </a:r>
            <a:endParaRPr lang="en-US" sz="2100" dirty="0"/>
          </a:p>
        </p:txBody>
      </p:sp>
      <p:sp>
        <p:nvSpPr>
          <p:cNvPr id="68" name="Shape 66"/>
          <p:cNvSpPr/>
          <p:nvPr/>
        </p:nvSpPr>
        <p:spPr>
          <a:xfrm>
            <a:off x="15340608" y="8450461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9" name="Text 67"/>
          <p:cNvSpPr/>
          <p:nvPr/>
        </p:nvSpPr>
        <p:spPr>
          <a:xfrm>
            <a:off x="15264408" y="7921823"/>
            <a:ext cx="2032992" cy="4810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分</a:t>
            </a:r>
            <a:endParaRPr lang="en-US" sz="2250" dirty="0"/>
          </a:p>
        </p:txBody>
      </p:sp>
      <p:sp>
        <p:nvSpPr>
          <p:cNvPr id="70" name="Text 68"/>
          <p:cNvSpPr/>
          <p:nvPr/>
        </p:nvSpPr>
        <p:spPr>
          <a:xfrm>
            <a:off x="990600" y="8545711"/>
            <a:ext cx="4366857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2C45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展示與回顧</a:t>
            </a:r>
            <a:endParaRPr lang="en-US" sz="2250" dirty="0"/>
          </a:p>
        </p:txBody>
      </p:sp>
      <p:sp>
        <p:nvSpPr>
          <p:cNvPr id="71" name="Text 69"/>
          <p:cNvSpPr/>
          <p:nvPr/>
        </p:nvSpPr>
        <p:spPr>
          <a:xfrm>
            <a:off x="5230267" y="8545711"/>
            <a:ext cx="10413651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問題、成果、驗證方式與下一步</a:t>
            </a:r>
            <a:endParaRPr lang="en-US" sz="2100" dirty="0"/>
          </a:p>
        </p:txBody>
      </p:sp>
      <p:sp>
        <p:nvSpPr>
          <p:cNvPr id="72" name="Text 70"/>
          <p:cNvSpPr/>
          <p:nvPr/>
        </p:nvSpPr>
        <p:spPr>
          <a:xfrm>
            <a:off x="15264408" y="8545711"/>
            <a:ext cx="2032992" cy="485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r" indent="0" marL="0">
              <a:lnSpc>
                <a:spcPct val="136765"/>
              </a:lnSpc>
              <a:buNone/>
            </a:pPr>
            <a:r>
              <a:rPr lang="en-US" sz="225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分</a:t>
            </a:r>
            <a:endParaRPr lang="en-US" sz="2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899470"/>
            <a:ext cx="17937480" cy="1752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6957"/>
              </a:lnSpc>
              <a:buNone/>
            </a:pPr>
            <a:r>
              <a:rPr lang="en-US" sz="13500" dirty="0">
                <a:solidFill>
                  <a:srgbClr val="94BCE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500" dirty="0"/>
          </a:p>
        </p:txBody>
      </p:sp>
      <p:sp>
        <p:nvSpPr>
          <p:cNvPr id="3" name="Text 1"/>
          <p:cNvSpPr/>
          <p:nvPr/>
        </p:nvSpPr>
        <p:spPr>
          <a:xfrm>
            <a:off x="990600" y="4918770"/>
            <a:ext cx="17937480" cy="1127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6134"/>
              </a:lnSpc>
              <a:buNone/>
            </a:pPr>
            <a:r>
              <a:rPr lang="en-US" sz="7800" b="1" spc="-117" kern="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教材與交付</a:t>
            </a:r>
            <a:endParaRPr lang="en-US" sz="7800" dirty="0"/>
          </a:p>
        </p:txBody>
      </p:sp>
      <p:sp>
        <p:nvSpPr>
          <p:cNvPr id="4" name="Text 2"/>
          <p:cNvSpPr/>
          <p:nvPr/>
        </p:nvSpPr>
        <p:spPr>
          <a:xfrm>
            <a:off x="990600" y="6313140"/>
            <a:ext cx="8669331" cy="12647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9259"/>
              </a:lnSpc>
              <a:buNone/>
            </a:pPr>
            <a:r>
              <a:rPr lang="en-US" sz="345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同一套內容分布在四個介面：投影片、手冊、隨堂網站、講師文件。</a:t>
            </a:r>
            <a:endParaRPr lang="en-US" sz="3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REPOSITORY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六個資料夾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3213646"/>
            <a:ext cx="3913584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2730847"/>
            <a:ext cx="3802392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資料夾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904184" y="3213646"/>
            <a:ext cx="1956792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4904184" y="2730847"/>
            <a:ext cx="1804392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給誰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860977" y="3213646"/>
            <a:ext cx="10436423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6860977" y="2730847"/>
            <a:ext cx="10749516" cy="3875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180" kern="0" dirty="0">
                <a:solidFill>
                  <a:srgbClr val="7A7A7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內容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990600" y="4017466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1" name="Text 9"/>
          <p:cNvSpPr/>
          <p:nvPr/>
        </p:nvSpPr>
        <p:spPr>
          <a:xfrm>
            <a:off x="990600" y="3413671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slides/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904184" y="4017466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3" name="Text 11"/>
          <p:cNvSpPr/>
          <p:nvPr/>
        </p:nvSpPr>
        <p:spPr>
          <a:xfrm>
            <a:off x="4904184" y="3413671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6860977" y="4017466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5" name="Text 13"/>
          <p:cNvSpPr/>
          <p:nvPr/>
        </p:nvSpPr>
        <p:spPr>
          <a:xfrm>
            <a:off x="6860977" y="3413671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Marp 投影片，64 頁，含備忘稿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90600" y="4821287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" y="4217491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workbook/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4904184" y="4821287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9" name="Text 17"/>
          <p:cNvSpPr/>
          <p:nvPr/>
        </p:nvSpPr>
        <p:spPr>
          <a:xfrm>
            <a:off x="4904184" y="4217491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860977" y="4821287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1" name="Text 19"/>
          <p:cNvSpPr/>
          <p:nvPr/>
        </p:nvSpPr>
        <p:spPr>
          <a:xfrm>
            <a:off x="6860977" y="4217491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共同練習、發想、規劃、實作手冊 + 重點整理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90600" y="5625108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3" name="Text 21"/>
          <p:cNvSpPr/>
          <p:nvPr/>
        </p:nvSpPr>
        <p:spPr>
          <a:xfrm>
            <a:off x="990600" y="5021312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site/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4904184" y="5625108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5" name="Text 23"/>
          <p:cNvSpPr/>
          <p:nvPr/>
        </p:nvSpPr>
        <p:spPr>
          <a:xfrm>
            <a:off x="4904184" y="5021312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6860977" y="5625108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7" name="Text 25"/>
          <p:cNvSpPr/>
          <p:nvPr/>
        </p:nvSpPr>
        <p:spPr>
          <a:xfrm>
            <a:off x="6860977" y="5021312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隨堂網站原始檔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90600" y="6428929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29" name="Text 27"/>
          <p:cNvSpPr/>
          <p:nvPr/>
        </p:nvSpPr>
        <p:spPr>
          <a:xfrm>
            <a:off x="990600" y="5825133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instructor/</a:t>
            </a:r>
            <a:endParaRPr lang="en-US" sz="2100" dirty="0"/>
          </a:p>
        </p:txBody>
      </p:sp>
      <p:sp>
        <p:nvSpPr>
          <p:cNvPr id="30" name="Shape 28"/>
          <p:cNvSpPr/>
          <p:nvPr/>
        </p:nvSpPr>
        <p:spPr>
          <a:xfrm>
            <a:off x="4904184" y="6428929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1" name="Text 29"/>
          <p:cNvSpPr/>
          <p:nvPr/>
        </p:nvSpPr>
        <p:spPr>
          <a:xfrm>
            <a:off x="4904184" y="5825133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</a:t>
            </a:r>
            <a:endParaRPr lang="en-US" sz="2100" dirty="0"/>
          </a:p>
        </p:txBody>
      </p:sp>
      <p:sp>
        <p:nvSpPr>
          <p:cNvPr id="32" name="Shape 30"/>
          <p:cNvSpPr/>
          <p:nvPr/>
        </p:nvSpPr>
        <p:spPr>
          <a:xfrm>
            <a:off x="6860977" y="6428929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3" name="Text 31"/>
          <p:cNvSpPr/>
          <p:nvPr/>
        </p:nvSpPr>
        <p:spPr>
          <a:xfrm>
            <a:off x="6860977" y="5825133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流程表、洞見講稿、課前通知信、疑難排解、參考解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990600" y="7232749"/>
            <a:ext cx="3913584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5" name="Text 33"/>
          <p:cNvSpPr/>
          <p:nvPr/>
        </p:nvSpPr>
        <p:spPr>
          <a:xfrm>
            <a:off x="990600" y="6628954"/>
            <a:ext cx="3802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starter/</a:t>
            </a:r>
            <a:endParaRPr lang="en-US" sz="2100" dirty="0"/>
          </a:p>
        </p:txBody>
      </p:sp>
      <p:sp>
        <p:nvSpPr>
          <p:cNvPr id="36" name="Shape 34"/>
          <p:cNvSpPr/>
          <p:nvPr/>
        </p:nvSpPr>
        <p:spPr>
          <a:xfrm>
            <a:off x="4904184" y="7232749"/>
            <a:ext cx="1956792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7" name="Text 35"/>
          <p:cNvSpPr/>
          <p:nvPr/>
        </p:nvSpPr>
        <p:spPr>
          <a:xfrm>
            <a:off x="4904184" y="6628954"/>
            <a:ext cx="1804392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選配</a:t>
            </a:r>
            <a:endParaRPr lang="en-US" sz="2100" dirty="0"/>
          </a:p>
        </p:txBody>
      </p:sp>
      <p:sp>
        <p:nvSpPr>
          <p:cNvPr id="38" name="Shape 36"/>
          <p:cNvSpPr/>
          <p:nvPr/>
        </p:nvSpPr>
        <p:spPr>
          <a:xfrm>
            <a:off x="6860977" y="7232749"/>
            <a:ext cx="10436423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39" name="Text 37"/>
          <p:cNvSpPr/>
          <p:nvPr/>
        </p:nvSpPr>
        <p:spPr>
          <a:xfrm>
            <a:off x="6860977" y="6628954"/>
            <a:ext cx="10749516" cy="45139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 repo 的範本（含 CLAUDE.md）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990600" y="7432774"/>
            <a:ext cx="3802392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2100" dirty="0">
                <a:solidFill>
                  <a:srgbClr val="2C455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variant-free/</a:t>
            </a:r>
            <a:endParaRPr lang="en-US" sz="2100" dirty="0"/>
          </a:p>
        </p:txBody>
      </p:sp>
      <p:sp>
        <p:nvSpPr>
          <p:cNvPr id="41" name="Text 39"/>
          <p:cNvSpPr/>
          <p:nvPr/>
        </p:nvSpPr>
        <p:spPr>
          <a:xfrm>
            <a:off x="4904184" y="7432774"/>
            <a:ext cx="1804392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講師</a:t>
            </a:r>
            <a:endParaRPr lang="en-US" sz="2100" dirty="0"/>
          </a:p>
        </p:txBody>
      </p:sp>
      <p:sp>
        <p:nvSpPr>
          <p:cNvPr id="42" name="Text 40"/>
          <p:cNvSpPr/>
          <p:nvPr/>
        </p:nvSpPr>
        <p:spPr>
          <a:xfrm>
            <a:off x="6860977" y="7432774"/>
            <a:ext cx="10749516" cy="45615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algn="l" indent="0" marL="0">
              <a:lnSpc>
                <a:spcPct val="135625"/>
              </a:lnSpc>
              <a:buNone/>
            </a:pPr>
            <a:r>
              <a:rPr lang="en-US" sz="21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免費變體的完整教材，自成一套</a:t>
            </a:r>
            <a:endParaRPr lang="en-US" sz="2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VARIANT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免費變體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430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付費版 · 主線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3430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桌面版 Claude Code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3430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內建 Claude Code，不用裝 Node.js、不碰指令列，還有視覺化的 diff。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410700" y="3102322"/>
            <a:ext cx="7886700" cy="2819846"/>
          </a:xfrm>
          <a:prstGeom prst="rect">
            <a:avLst/>
          </a:prstGeom>
          <a:ln w="9525">
            <a:solidFill>
              <a:srgbClr val="1F1F1F">
                <a:alpha val="16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63125" y="3492847"/>
            <a:ext cx="7900035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16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免費版 · variant-free/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63125" y="4037558"/>
            <a:ext cx="7900035" cy="549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7360"/>
              </a:lnSpc>
              <a:buNone/>
            </a:pPr>
            <a:r>
              <a:rPr lang="en-US" sz="3300" b="1" spc="-49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聊天介面 + GitHub 網頁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763125" y="4739283"/>
            <a:ext cx="7397306" cy="8304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相同的開放式專題架構。適用於沒有付費方案、場地限制安裝軟體或沒有工具預算的場次。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90600" y="6417469"/>
            <a:ext cx="10642671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免費版每個提示詞結尾都多一句「請給我完整程式碼」。這是刻意的差異，不是要修掉的不一致。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開課前四件事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990600" y="3102322"/>
            <a:ext cx="251817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432917" y="3102322"/>
            <a:ext cx="6139979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需要付費方案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432917" y="3689003"/>
            <a:ext cx="6139979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/ Max / Team / Enterprise。免費帳號無法使用。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448800" y="3102322"/>
            <a:ext cx="351979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5400" dirty="0"/>
          </a:p>
        </p:txBody>
      </p:sp>
      <p:sp>
        <p:nvSpPr>
          <p:cNvPr id="9" name="Text 7"/>
          <p:cNvSpPr/>
          <p:nvPr/>
        </p:nvSpPr>
        <p:spPr>
          <a:xfrm>
            <a:off x="9991279" y="3102322"/>
            <a:ext cx="599313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主要路線是桌面版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991279" y="3689003"/>
            <a:ext cx="599313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不是終端機。瀏覽器版是無法安裝時的備用路線。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990600" y="4542383"/>
            <a:ext cx="356146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1537246" y="4542383"/>
            <a:ext cx="5665708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學員 repo 必須是 Public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537246" y="5129064"/>
            <a:ext cx="5665708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若要使用 GitHub Pages，應在 Lab 0 完成設定。</a:t>
            </a:r>
            <a:endParaRPr lang="en-US" sz="1950" dirty="0"/>
          </a:p>
        </p:txBody>
      </p:sp>
      <p:sp>
        <p:nvSpPr>
          <p:cNvPr id="14" name="Text 12"/>
          <p:cNvSpPr/>
          <p:nvPr/>
        </p:nvSpPr>
        <p:spPr>
          <a:xfrm>
            <a:off x="9448800" y="4542383"/>
            <a:ext cx="360908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87805"/>
              </a:lnSpc>
              <a:buNone/>
            </a:pPr>
            <a:r>
              <a:rPr lang="en-US" sz="5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5400" dirty="0"/>
          </a:p>
        </p:txBody>
      </p:sp>
      <p:sp>
        <p:nvSpPr>
          <p:cNvPr id="15" name="Text 13"/>
          <p:cNvSpPr/>
          <p:nvPr/>
        </p:nvSpPr>
        <p:spPr>
          <a:xfrm>
            <a:off x="10000208" y="4542383"/>
            <a:ext cx="5448300" cy="5104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0222"/>
              </a:lnSpc>
              <a:buNone/>
            </a:pPr>
            <a:r>
              <a:rPr lang="en-US" sz="3000" b="1" spc="-45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課前通知信一定要寄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10000208" y="5129064"/>
            <a:ext cx="5448300" cy="4342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4194"/>
              </a:lnSpc>
              <a:buNone/>
            </a:pPr>
            <a:r>
              <a:rPr lang="en-US" sz="195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否則課程前段可能需要處理安裝與帳號問題。</a:t>
            </a:r>
            <a:endParaRPr lang="en-US" sz="1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F2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914400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4161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MAINTENANCE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90600" y="1440061"/>
            <a:ext cx="17937480" cy="7764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99385"/>
              </a:lnSpc>
              <a:buNone/>
            </a:pPr>
            <a:r>
              <a:rPr lang="en-US" sz="5100" b="1" spc="-76" kern="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改教材時的同步規則</a:t>
            </a:r>
            <a:endParaRPr lang="en-US" sz="5100" dirty="0"/>
          </a:p>
        </p:txBody>
      </p:sp>
      <p:sp>
        <p:nvSpPr>
          <p:cNvPr id="4" name="Shape 2"/>
          <p:cNvSpPr/>
          <p:nvPr/>
        </p:nvSpPr>
        <p:spPr>
          <a:xfrm>
            <a:off x="990600" y="2635597"/>
            <a:ext cx="16306800" cy="9525"/>
          </a:xfrm>
          <a:prstGeom prst="rect">
            <a:avLst/>
          </a:prstGeom>
          <a:solidFill>
            <a:srgbClr val="1F1F1F">
              <a:alpha val="16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990600" y="3711922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2988022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動到時間或順序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6992094" y="2988022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先改 instructor/timeline.md，再往下同步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990600" y="4712047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" y="3988147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動到學員要貼的提示詞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6992094" y="3988147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workbook/ 和 site/index.html 必須逐字一致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990600" y="5712172"/>
            <a:ext cx="16306800" cy="9525"/>
          </a:xfrm>
          <a:prstGeom prst="rect">
            <a:avLst/>
          </a:prstGeom>
          <a:solidFill>
            <a:srgbClr val="D6EBFF"/>
          </a:solidFill>
          <a:ln/>
        </p:spPr>
      </p:sp>
      <p:sp>
        <p:nvSpPr>
          <p:cNvPr id="12" name="Text 10"/>
          <p:cNvSpPr/>
          <p:nvPr/>
        </p:nvSpPr>
        <p:spPr>
          <a:xfrm>
            <a:off x="990600" y="4988272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改完隨堂網站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6992094" y="4988272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重新發布到原本那個網址，不要產生新的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990600" y="5988397"/>
            <a:ext cx="6098724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11429"/>
              </a:lnSpc>
              <a:buNone/>
            </a:pPr>
            <a:r>
              <a:rPr lang="en-US" sz="2700" dirty="0">
                <a:solidFill>
                  <a:srgbClr val="1D1F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改完付費版 Lab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6992094" y="5988397"/>
            <a:ext cx="11335836" cy="495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29730"/>
              </a:lnSpc>
              <a:buNone/>
            </a:pPr>
            <a:r>
              <a:rPr lang="en-US" sz="2400" dirty="0">
                <a:solidFill>
                  <a:srgbClr val="5D5D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variant-free/ 通常要跟著改，但提示詞不必逐字一致</a:t>
            </a:r>
            <a:endParaRPr lang="en-US" sz="2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D2D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90600" y="2695724"/>
            <a:ext cx="10454274" cy="29183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09565"/>
              </a:lnSpc>
              <a:buNone/>
            </a:pPr>
            <a:r>
              <a:rPr lang="en-US" sz="6000" dirty="0">
                <a:solidFill>
                  <a:srgbClr val="F2F2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今天完成的不是一組固定答案，而是一套可以重複使用的工作方式。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90600" y="5995095"/>
            <a:ext cx="8514045" cy="10132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8378"/>
              </a:lnSpc>
              <a:buNone/>
            </a:pPr>
            <a:r>
              <a:rPr lang="en-US" sz="2400" dirty="0">
                <a:solidFill>
                  <a:srgbClr val="B5D9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問題是否值得處理、目標如何取捨、結果是否正確，仍需要由使用者判斷。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90600" y="7389316"/>
            <a:ext cx="17937480" cy="39231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algn="l" indent="0" marL="0">
              <a:lnSpc>
                <a:spcPct val="137778"/>
              </a:lnSpc>
              <a:buNone/>
            </a:pPr>
            <a:r>
              <a:rPr lang="en-US" sz="1800" spc="252" kern="0" dirty="0">
                <a:solidFill>
                  <a:srgbClr val="94BCE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github.com/htchen/LLM2Life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2026-08-26T05:31:34Z</dcterms:created>
  <dcterms:modified xsi:type="dcterms:W3CDTF">2026-08-26T05:31:34Z</dcterms:modified>
</cp:coreProperties>
</file>