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78" r:id="rId29"/>
    <p:sldId id="258" r:id="rId4"/>
    <p:sldId id="259" r:id="rId5"/>
    <p:sldId id="260" r:id="rId6"/>
    <p:sldId id="261" r:id="rId7"/>
    <p:sldId id="276" r:id="rId27"/>
    <p:sldId id="277" r:id="rId28"/>
    <p:sldId id="262" r:id="rId8"/>
    <p:sldId id="263" r:id="rId9"/>
    <p:sldId id="264" r:id="rId10"/>
    <p:sldId id="265" r:id="rId11"/>
    <p:sldId id="279" r:id="rId30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這是教材本身的走查，不是課程本身。二十分鐘內講完論證、課程設計、三小時流程、以及教材怎麼維護。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學員用自己的 GitHub 帳號和 Claude 帳號，從生活或工作中的真實問題出發，最後展示一個可操作的最小版本。教材本身是六個資料夾，講師、學員兩邊都齊。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第一段：這堂課要學員相信的是什麼。投影片上只有結論，理由寫在 instructor/insights.md。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這是整套教材的骨幹主張。三件事缺一不可，而課程只教得動其中兩件的判斷能力。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生成工具降低的是第二項的部分成本。第一與第三項沒有被取代，因此在課程時間分配上占更高比例。這也是為什麼共同練習只占 25 分鐘，發想與規劃合計 50 分鐘。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共同練習之後就收在這句。請學員回答：看到第一版後，你才發現哪一項需求沒有寫？第一版不是最終答案，而是用來取得具體回饋。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洞見講稿分成六段，對應課程的六個時刻。每一段講師都有固定的提問方式，這份文件同時寫了被挑戰時怎麼回。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第二段：課程結構怎麼排，以及為什麼這樣排。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固定案例只建立共同操作基礎，不是全班必做的成果。個人專題要來自熟悉的情境，因為使用者本人最能判斷問題是否真實。兩者放在同一個 repo。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這個循環是課程的主線，也是學員帶得走的東西。今天完成的不是一組固定答案，而是一套可以重複使用的工作方式。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這是全課的編排原則，也是講師巡視時的判準：先問你這一步的驗收條件是什麼，不要先看功能數量。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「這次不做」不是附帶項目，而是範圍管理的核心。若學員無法列出不做內容，通常表示題目仍過大。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第三段：時間與順序。instructor/timeline.md 是唯一真實來源，動到時間先改那份。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注意比例：共同操作基礎 65 分，發想與規劃 50 分，實作與展示 50 分。發想與規劃拿到的時間和實作一樣多，這是刻意的。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第四段：教材本身。誰用哪一份、開課前要確認什麼、改教材時要同步什麼。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先讀 timeline.md 和 insights.md。投影片上只有結論，理由在 insights.md。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免費帳號本身就無法使用 Claude Code，換任何模型都一樣，這不是模型的限制，是方案的限制。免費變體用相同的開放式專題架構，但改以聊天介面加 GitHub 網頁操作。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這四件事沒確認，課程前段就會花在裝軟體和開帳號上。課前通知信一定要寄。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改教材時最容易出錯的地方。細節見 CLAUDE.md。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收束說法：AI 可以協助整理、規劃與實作；問題是否值得處理、目標如何取捨、結果是否正確，仍需要由使用者判斷。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2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914400"/>
            <a:ext cx="1793748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1800" spc="252" kern="0" dirty="0">
                <a:solidFill>
                  <a:srgbClr val="4161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htchen / LLM2Life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600" y="1592461"/>
            <a:ext cx="11019312" cy="21380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639"/>
              </a:lnSpc>
              <a:buNone/>
            </a:pPr>
            <a:r>
              <a:rPr lang="en-US" sz="7800" b="1" spc="78" kern="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 AI 和 GitHub 把發想做成可操作工具</a:t>
            </a:r>
            <a:endParaRPr lang="en-US" sz="7800" dirty="0"/>
          </a:p>
        </p:txBody>
      </p:sp>
      <p:sp>
        <p:nvSpPr>
          <p:cNvPr id="4" name="Text 2"/>
          <p:cNvSpPr/>
          <p:nvPr/>
        </p:nvSpPr>
        <p:spPr>
          <a:xfrm>
            <a:off x="990600" y="4016276"/>
            <a:ext cx="8169176" cy="629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450" dirty="0">
                <a:solidFill>
                  <a:srgbClr val="5D5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三小時實作工作坊的完整教材</a:t>
            </a:r>
            <a:endParaRPr lang="en-US" sz="3450" dirty="0"/>
          </a:p>
        </p:txBody>
      </p:sp>
      <p:sp>
        <p:nvSpPr>
          <p:cNvPr id="5" name="Shape 3"/>
          <p:cNvSpPr/>
          <p:nvPr/>
        </p:nvSpPr>
        <p:spPr>
          <a:xfrm>
            <a:off x="990600" y="7955459"/>
            <a:ext cx="7410450" cy="1569541"/>
          </a:xfrm>
          <a:prstGeom prst="rect">
            <a:avLst/>
          </a:prstGeom>
          <a:ln w="9525">
            <a:solidFill>
              <a:srgbClr val="1F1F1F">
                <a:alpha val="16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19225" y="8288834"/>
            <a:ext cx="335280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1800" spc="180" kern="0" dirty="0">
                <a:solidFill>
                  <a:srgbClr val="7A7A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對象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19225" y="8719245"/>
            <a:ext cx="3352800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054"/>
              </a:lnSpc>
              <a:buNone/>
            </a:pPr>
            <a:r>
              <a:rPr lang="en-US" sz="24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高中教師（種子教師）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229225" y="8288834"/>
            <a:ext cx="301752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1800" spc="180" kern="0" dirty="0">
                <a:solidFill>
                  <a:srgbClr val="7A7A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走查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229225" y="8719245"/>
            <a:ext cx="3017520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054"/>
              </a:lnSpc>
              <a:buNone/>
            </a:pPr>
            <a:r>
              <a:rPr lang="en-US" sz="24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教材內容與維護方式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2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914400"/>
            <a:ext cx="1793748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1800" spc="252" kern="0" dirty="0">
                <a:solidFill>
                  <a:srgbClr val="4161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OVERVIEW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600" y="1440061"/>
            <a:ext cx="17937480" cy="7764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385"/>
              </a:lnSpc>
              <a:buNone/>
            </a:pPr>
            <a:r>
              <a:rPr lang="en-US" sz="5100" b="1" spc="-76" kern="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教材概觀</a:t>
            </a:r>
            <a:endParaRPr lang="en-US" sz="5100" dirty="0"/>
          </a:p>
        </p:txBody>
      </p:sp>
      <p:sp>
        <p:nvSpPr>
          <p:cNvPr id="4" name="Shape 2"/>
          <p:cNvSpPr/>
          <p:nvPr/>
        </p:nvSpPr>
        <p:spPr>
          <a:xfrm>
            <a:off x="990600" y="2635597"/>
            <a:ext cx="8954988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90600" y="3102322"/>
            <a:ext cx="9223638" cy="10132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378"/>
              </a:lnSpc>
              <a:buNone/>
            </a:pPr>
            <a:r>
              <a:rPr lang="en-US" sz="24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學員用自己的 GitHub 帳號和免費 Claude 帳號，逐步完成發想、規劃、實作與驗證，最後展示一個可操作的最小版本。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90600" y="4687044"/>
            <a:ext cx="5156150" cy="2871639"/>
          </a:xfrm>
          <a:prstGeom prst="rect">
            <a:avLst/>
          </a:prstGeom>
          <a:ln w="9525">
            <a:solidFill>
              <a:srgbClr val="1F1F1F">
                <a:alpha val="16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43025" y="5077569"/>
            <a:ext cx="489643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273"/>
              </a:lnSpc>
              <a:buNone/>
            </a:pPr>
            <a:r>
              <a:rPr lang="en-US" sz="7200" dirty="0">
                <a:solidFill>
                  <a:srgbClr val="416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195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1343025" y="6125319"/>
            <a:ext cx="4896430" cy="563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222"/>
              </a:lnSpc>
              <a:buNone/>
            </a:pPr>
            <a:r>
              <a:rPr lang="en-US" sz="345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分鐘</a:t>
            </a:r>
            <a:endParaRPr lang="en-US" sz="3450" dirty="0"/>
          </a:p>
        </p:txBody>
      </p:sp>
      <p:sp>
        <p:nvSpPr>
          <p:cNvPr id="9" name="Text 7"/>
          <p:cNvSpPr/>
          <p:nvPr/>
        </p:nvSpPr>
        <p:spPr>
          <a:xfrm>
            <a:off x="1343025" y="6784330"/>
            <a:ext cx="489643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5D5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含休息，可縮短為 180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6565850" y="4687044"/>
            <a:ext cx="5156150" cy="2871639"/>
          </a:xfrm>
          <a:prstGeom prst="rect">
            <a:avLst/>
          </a:prstGeom>
          <a:ln w="9525">
            <a:solidFill>
              <a:srgbClr val="1F1F1F">
                <a:alpha val="16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18275" y="5077569"/>
            <a:ext cx="489643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273"/>
              </a:lnSpc>
              <a:buNone/>
            </a:pPr>
            <a:r>
              <a:rPr lang="en-US" sz="7200" dirty="0">
                <a:solidFill>
                  <a:srgbClr val="416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</a:t>
            </a:r>
            <a:endParaRPr lang="en-US" sz="7200" dirty="0"/>
          </a:p>
        </p:txBody>
      </p:sp>
      <p:sp>
        <p:nvSpPr>
          <p:cNvPr id="12" name="Text 10"/>
          <p:cNvSpPr/>
          <p:nvPr/>
        </p:nvSpPr>
        <p:spPr>
          <a:xfrm>
            <a:off x="6918275" y="6125319"/>
            <a:ext cx="4896430" cy="563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222"/>
              </a:lnSpc>
              <a:buNone/>
            </a:pPr>
            <a:r>
              <a:rPr lang="en-US" sz="345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頁投影片</a:t>
            </a:r>
            <a:endParaRPr lang="en-US" sz="3450" dirty="0"/>
          </a:p>
        </p:txBody>
      </p:sp>
      <p:sp>
        <p:nvSpPr>
          <p:cNvPr id="13" name="Text 11"/>
          <p:cNvSpPr/>
          <p:nvPr/>
        </p:nvSpPr>
        <p:spPr>
          <a:xfrm>
            <a:off x="6918275" y="6784330"/>
            <a:ext cx="489643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5D5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免費版主線，含備忘稿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12141101" y="4687044"/>
            <a:ext cx="5156150" cy="2871639"/>
          </a:xfrm>
          <a:prstGeom prst="rect">
            <a:avLst/>
          </a:prstGeom>
          <a:ln w="9525">
            <a:solidFill>
              <a:srgbClr val="1F1F1F">
                <a:alpha val="16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493526" y="5077569"/>
            <a:ext cx="489643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273"/>
              </a:lnSpc>
              <a:buNone/>
            </a:pPr>
            <a:r>
              <a:rPr lang="en-US" sz="7200" dirty="0">
                <a:solidFill>
                  <a:srgbClr val="416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7200" dirty="0"/>
          </a:p>
        </p:txBody>
      </p:sp>
      <p:sp>
        <p:nvSpPr>
          <p:cNvPr id="16" name="Text 14"/>
          <p:cNvSpPr/>
          <p:nvPr/>
        </p:nvSpPr>
        <p:spPr>
          <a:xfrm>
            <a:off x="12493526" y="6125319"/>
            <a:ext cx="4896430" cy="563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222"/>
              </a:lnSpc>
              <a:buNone/>
            </a:pPr>
            <a:r>
              <a:rPr lang="en-US" sz="345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個資料夾</a:t>
            </a:r>
            <a:endParaRPr lang="en-US" sz="3450" dirty="0"/>
          </a:p>
        </p:txBody>
      </p:sp>
      <p:sp>
        <p:nvSpPr>
          <p:cNvPr id="17" name="Text 15"/>
          <p:cNvSpPr/>
          <p:nvPr/>
        </p:nvSpPr>
        <p:spPr>
          <a:xfrm>
            <a:off x="12493526" y="6784330"/>
            <a:ext cx="489643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5D5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免費版主線、付費版與共用</a:t>
            </a:r>
            <a:endParaRPr lang="en-US" sz="1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D2D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2899470"/>
            <a:ext cx="17937480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957"/>
              </a:lnSpc>
              <a:buNone/>
            </a:pPr>
            <a:r>
              <a:rPr lang="en-US" sz="13500" dirty="0">
                <a:solidFill>
                  <a:srgbClr val="94BC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500" dirty="0"/>
          </a:p>
        </p:txBody>
      </p:sp>
      <p:sp>
        <p:nvSpPr>
          <p:cNvPr id="3" name="Text 1"/>
          <p:cNvSpPr/>
          <p:nvPr/>
        </p:nvSpPr>
        <p:spPr>
          <a:xfrm>
            <a:off x="990600" y="4918770"/>
            <a:ext cx="17937480" cy="11276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134"/>
              </a:lnSpc>
              <a:buNone/>
            </a:pPr>
            <a:r>
              <a:rPr lang="en-US" sz="7800" b="1" spc="-117" kern="0" dirty="0">
                <a:solidFill>
                  <a:srgbClr val="F2F2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論證基礎</a:t>
            </a:r>
            <a:endParaRPr lang="en-US" sz="7800" dirty="0"/>
          </a:p>
        </p:txBody>
      </p:sp>
      <p:sp>
        <p:nvSpPr>
          <p:cNvPr id="4" name="Text 2"/>
          <p:cNvSpPr/>
          <p:nvPr/>
        </p:nvSpPr>
        <p:spPr>
          <a:xfrm>
            <a:off x="990600" y="6313140"/>
            <a:ext cx="8669331" cy="1264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259"/>
              </a:lnSpc>
              <a:buNone/>
            </a:pPr>
            <a:r>
              <a:rPr lang="en-US" sz="3450" dirty="0">
                <a:solidFill>
                  <a:srgbClr val="B5D9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課程要成立，先要說清楚生成工具改變了什麼、沒有改變什麼。</a:t>
            </a:r>
            <a:endParaRPr lang="en-US" sz="3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2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914400"/>
            <a:ext cx="1793748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1800" spc="252" kern="0" dirty="0">
                <a:solidFill>
                  <a:srgbClr val="4161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ARGUMENT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600" y="1440061"/>
            <a:ext cx="17937480" cy="7764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385"/>
              </a:lnSpc>
              <a:buNone/>
            </a:pPr>
            <a:r>
              <a:rPr lang="en-US" sz="5100" b="1" spc="-76" kern="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做軟體的三件事</a:t>
            </a:r>
            <a:endParaRPr lang="en-US" sz="5100" dirty="0"/>
          </a:p>
        </p:txBody>
      </p:sp>
      <p:sp>
        <p:nvSpPr>
          <p:cNvPr id="4" name="Shape 2"/>
          <p:cNvSpPr/>
          <p:nvPr/>
        </p:nvSpPr>
        <p:spPr>
          <a:xfrm>
            <a:off x="990600" y="2635597"/>
            <a:ext cx="163068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90600" y="3102322"/>
            <a:ext cx="5643771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1800" spc="216" kern="0" dirty="0">
                <a:solidFill>
                  <a:srgbClr val="4161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90600" y="3647033"/>
            <a:ext cx="5643771" cy="5813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630"/>
              </a:lnSpc>
              <a:buNone/>
            </a:pPr>
            <a:r>
              <a:rPr lang="en-US" sz="3450" b="1" spc="-52" kern="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知道要什麼</a:t>
            </a:r>
            <a:endParaRPr lang="en-US" sz="3450" dirty="0"/>
          </a:p>
        </p:txBody>
      </p:sp>
      <p:sp>
        <p:nvSpPr>
          <p:cNvPr id="7" name="Text 5"/>
          <p:cNvSpPr/>
          <p:nvPr/>
        </p:nvSpPr>
        <p:spPr>
          <a:xfrm>
            <a:off x="990600" y="4380756"/>
            <a:ext cx="5284622" cy="9828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054"/>
              </a:lnSpc>
              <a:buNone/>
            </a:pPr>
            <a:r>
              <a:rPr lang="en-US" sz="2400" dirty="0">
                <a:solidFill>
                  <a:srgbClr val="5D5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問題是否真實、值不值得處理，由使用者本人判斷。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578501" y="3102322"/>
            <a:ext cx="5643935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1800" spc="216" kern="0" dirty="0">
                <a:solidFill>
                  <a:srgbClr val="4161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578501" y="3647033"/>
            <a:ext cx="5643935" cy="5813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630"/>
              </a:lnSpc>
              <a:buNone/>
            </a:pPr>
            <a:r>
              <a:rPr lang="en-US" sz="3450" b="1" spc="-52" kern="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轉成機器可以執行的形式</a:t>
            </a:r>
            <a:endParaRPr lang="en-US" sz="3450" dirty="0"/>
          </a:p>
        </p:txBody>
      </p:sp>
      <p:sp>
        <p:nvSpPr>
          <p:cNvPr id="10" name="Text 8"/>
          <p:cNvSpPr/>
          <p:nvPr/>
        </p:nvSpPr>
        <p:spPr>
          <a:xfrm>
            <a:off x="6578501" y="4380756"/>
            <a:ext cx="5284775" cy="9828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054"/>
              </a:lnSpc>
              <a:buNone/>
            </a:pPr>
            <a:r>
              <a:rPr lang="en-US" sz="2400" dirty="0">
                <a:solidFill>
                  <a:srgbClr val="5D5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過去這一項需要程式能力，是多數人的門檻。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2166550" y="3102322"/>
            <a:ext cx="5643935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1800" spc="216" kern="0" dirty="0">
                <a:solidFill>
                  <a:srgbClr val="4161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166550" y="3647033"/>
            <a:ext cx="5643935" cy="5813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630"/>
              </a:lnSpc>
              <a:buNone/>
            </a:pPr>
            <a:r>
              <a:rPr lang="en-US" sz="3450" b="1" spc="-52" kern="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確認結果正確</a:t>
            </a:r>
            <a:endParaRPr lang="en-US" sz="3450" dirty="0"/>
          </a:p>
        </p:txBody>
      </p:sp>
      <p:sp>
        <p:nvSpPr>
          <p:cNvPr id="13" name="Text 11"/>
          <p:cNvSpPr/>
          <p:nvPr/>
        </p:nvSpPr>
        <p:spPr>
          <a:xfrm>
            <a:off x="12166550" y="4380756"/>
            <a:ext cx="5284775" cy="9828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054"/>
              </a:lnSpc>
              <a:buNone/>
            </a:pPr>
            <a:r>
              <a:rPr lang="en-US" sz="2400" dirty="0">
                <a:solidFill>
                  <a:srgbClr val="5D5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要有驗收條件，才能說結果符合需求。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2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914400"/>
            <a:ext cx="1793748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1800" spc="252" kern="0" dirty="0">
                <a:solidFill>
                  <a:srgbClr val="4161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ARGUMENT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600" y="1440061"/>
            <a:ext cx="17937480" cy="7764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385"/>
              </a:lnSpc>
              <a:buNone/>
            </a:pPr>
            <a:r>
              <a:rPr lang="en-US" sz="5100" b="1" spc="-76" kern="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生成工具改變的是哪一項</a:t>
            </a:r>
            <a:endParaRPr lang="en-US" sz="5100" dirty="0"/>
          </a:p>
        </p:txBody>
      </p:sp>
      <p:sp>
        <p:nvSpPr>
          <p:cNvPr id="4" name="Shape 2"/>
          <p:cNvSpPr/>
          <p:nvPr/>
        </p:nvSpPr>
        <p:spPr>
          <a:xfrm>
            <a:off x="990600" y="2635597"/>
            <a:ext cx="163068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90600" y="3102322"/>
            <a:ext cx="5206901" cy="2292400"/>
          </a:xfrm>
          <a:prstGeom prst="rect">
            <a:avLst/>
          </a:prstGeom>
          <a:ln w="9525">
            <a:solidFill>
              <a:srgbClr val="1F1F1F">
                <a:alpha val="16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04925" y="3454747"/>
            <a:ext cx="5036076" cy="563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222"/>
              </a:lnSpc>
              <a:buNone/>
            </a:pPr>
            <a:r>
              <a:rPr lang="en-US" sz="345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知道要什麼</a:t>
            </a:r>
            <a:endParaRPr lang="en-US" sz="3450" dirty="0"/>
          </a:p>
        </p:txBody>
      </p:sp>
      <p:sp>
        <p:nvSpPr>
          <p:cNvPr id="7" name="Text 5"/>
          <p:cNvSpPr/>
          <p:nvPr/>
        </p:nvSpPr>
        <p:spPr>
          <a:xfrm>
            <a:off x="1304925" y="4132808"/>
            <a:ext cx="5036076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5D5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成本不變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6540401" y="3102322"/>
            <a:ext cx="5207050" cy="2292400"/>
          </a:xfrm>
          <a:prstGeom prst="rect">
            <a:avLst/>
          </a:prstGeom>
          <a:solidFill>
            <a:srgbClr val="EEF6FF"/>
          </a:solidFill>
          <a:ln w="9525">
            <a:solidFill>
              <a:srgbClr val="5980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4726" y="3454747"/>
            <a:ext cx="4715752" cy="10894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222"/>
              </a:lnSpc>
              <a:buNone/>
            </a:pPr>
            <a:r>
              <a:rPr lang="en-US" sz="3450" dirty="0">
                <a:solidFill>
                  <a:srgbClr val="2C45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轉成機器可以執行的形式</a:t>
            </a:r>
            <a:endParaRPr lang="en-US" sz="3450" dirty="0"/>
          </a:p>
        </p:txBody>
      </p:sp>
      <p:sp>
        <p:nvSpPr>
          <p:cNvPr id="10" name="Text 8"/>
          <p:cNvSpPr/>
          <p:nvPr/>
        </p:nvSpPr>
        <p:spPr>
          <a:xfrm>
            <a:off x="6854726" y="4658469"/>
            <a:ext cx="503624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2C45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部分成本下降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12090350" y="3102322"/>
            <a:ext cx="5207050" cy="2292400"/>
          </a:xfrm>
          <a:prstGeom prst="rect">
            <a:avLst/>
          </a:prstGeom>
          <a:ln w="9525">
            <a:solidFill>
              <a:srgbClr val="1F1F1F">
                <a:alpha val="16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404675" y="3454747"/>
            <a:ext cx="5036240" cy="563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222"/>
              </a:lnSpc>
              <a:buNone/>
            </a:pPr>
            <a:r>
              <a:rPr lang="en-US" sz="345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確認結果正確</a:t>
            </a:r>
            <a:endParaRPr lang="en-US" sz="3450" dirty="0"/>
          </a:p>
        </p:txBody>
      </p:sp>
      <p:sp>
        <p:nvSpPr>
          <p:cNvPr id="13" name="Text 11"/>
          <p:cNvSpPr/>
          <p:nvPr/>
        </p:nvSpPr>
        <p:spPr>
          <a:xfrm>
            <a:off x="12404675" y="4132808"/>
            <a:ext cx="503624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5D5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成本不變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990600" y="5928122"/>
            <a:ext cx="9933078" cy="10132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378"/>
              </a:lnSpc>
              <a:buNone/>
            </a:pPr>
            <a:r>
              <a:rPr lang="en-US" sz="24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只有中間一項的成本下降，因此需求釐清與驗證會在整個流程裡占更高比例——課程的時間分配就是照這個比例排的。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2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2838896"/>
            <a:ext cx="17937480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9565"/>
              </a:lnSpc>
              <a:buNone/>
            </a:pPr>
            <a:r>
              <a:rPr lang="en-US" sz="13500" dirty="0">
                <a:solidFill>
                  <a:srgbClr val="B5D9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</a:t>
            </a:r>
            <a:endParaRPr lang="en-US" sz="13500" dirty="0"/>
          </a:p>
        </p:txBody>
      </p:sp>
      <p:sp>
        <p:nvSpPr>
          <p:cNvPr id="3" name="Text 1"/>
          <p:cNvSpPr/>
          <p:nvPr/>
        </p:nvSpPr>
        <p:spPr>
          <a:xfrm>
            <a:off x="990600" y="4705796"/>
            <a:ext cx="9966342" cy="20832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255"/>
              </a:lnSpc>
              <a:buNone/>
            </a:pPr>
            <a:r>
              <a:rPr lang="en-US" sz="6600" dirty="0">
                <a:solidFill>
                  <a:srgbClr val="2C45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尚未釐清的需求，無法完整交給人或 AI 執行。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990600" y="7246293"/>
            <a:ext cx="1793748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1800" spc="216" kern="0" dirty="0">
                <a:solidFill>
                  <a:srgbClr val="7A7A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instructor/insights.md — 共同練習之後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2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914400"/>
            <a:ext cx="1793748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1800" spc="252" kern="0" dirty="0">
                <a:solidFill>
                  <a:srgbClr val="4161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INSIGHTS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600" y="1440061"/>
            <a:ext cx="17937480" cy="7764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385"/>
              </a:lnSpc>
              <a:buNone/>
            </a:pPr>
            <a:r>
              <a:rPr lang="en-US" sz="5100" b="1" spc="-76" kern="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六個階段的教學重點</a:t>
            </a:r>
            <a:endParaRPr lang="en-US" sz="5100" dirty="0"/>
          </a:p>
        </p:txBody>
      </p:sp>
      <p:sp>
        <p:nvSpPr>
          <p:cNvPr id="4" name="Shape 2"/>
          <p:cNvSpPr/>
          <p:nvPr/>
        </p:nvSpPr>
        <p:spPr>
          <a:xfrm>
            <a:off x="990600" y="3289846"/>
            <a:ext cx="3587353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90600" y="2787997"/>
            <a:ext cx="3466374" cy="3875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1800" spc="180" kern="0" dirty="0">
                <a:solidFill>
                  <a:srgbClr val="7A7A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階段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7953" y="3289846"/>
            <a:ext cx="12719447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577953" y="2787997"/>
            <a:ext cx="13101030" cy="3875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1800" spc="180" kern="0" dirty="0">
                <a:solidFill>
                  <a:srgbClr val="7A7A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教學重點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90600" y="4190851"/>
            <a:ext cx="3587353" cy="9525"/>
          </a:xfrm>
          <a:prstGeom prst="rect">
            <a:avLst/>
          </a:prstGeom>
          <a:solidFill>
            <a:srgbClr val="D6EBFF"/>
          </a:solidFill>
          <a:ln/>
        </p:spPr>
      </p:sp>
      <p:sp>
        <p:nvSpPr>
          <p:cNvPr id="9" name="Text 7"/>
          <p:cNvSpPr/>
          <p:nvPr/>
        </p:nvSpPr>
        <p:spPr>
          <a:xfrm>
            <a:off x="990600" y="3508921"/>
            <a:ext cx="3466374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4054"/>
              </a:lnSpc>
              <a:buNone/>
            </a:pPr>
            <a:r>
              <a:rPr lang="en-US" sz="24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共同練習之後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4577953" y="4190851"/>
            <a:ext cx="12719447" cy="9525"/>
          </a:xfrm>
          <a:prstGeom prst="rect">
            <a:avLst/>
          </a:prstGeom>
          <a:solidFill>
            <a:srgbClr val="D6EBFF"/>
          </a:solidFill>
          <a:ln/>
        </p:spPr>
      </p:sp>
      <p:sp>
        <p:nvSpPr>
          <p:cNvPr id="11" name="Text 9"/>
          <p:cNvSpPr/>
          <p:nvPr/>
        </p:nvSpPr>
        <p:spPr>
          <a:xfrm>
            <a:off x="4577953" y="3508921"/>
            <a:ext cx="13101030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4054"/>
              </a:lnSpc>
              <a:buNone/>
            </a:pPr>
            <a:r>
              <a:rPr lang="en-US" sz="24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需求會在看到結果後變得更明確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990600" y="5091857"/>
            <a:ext cx="3587353" cy="9525"/>
          </a:xfrm>
          <a:prstGeom prst="rect">
            <a:avLst/>
          </a:prstGeom>
          <a:solidFill>
            <a:srgbClr val="D6EBFF"/>
          </a:solidFill>
          <a:ln/>
        </p:spPr>
      </p:sp>
      <p:sp>
        <p:nvSpPr>
          <p:cNvPr id="13" name="Text 11"/>
          <p:cNvSpPr/>
          <p:nvPr/>
        </p:nvSpPr>
        <p:spPr>
          <a:xfrm>
            <a:off x="990600" y="4409926"/>
            <a:ext cx="3466374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4054"/>
              </a:lnSpc>
              <a:buNone/>
            </a:pPr>
            <a:r>
              <a:rPr lang="en-US" sz="24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發想階段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4577953" y="5091857"/>
            <a:ext cx="12719447" cy="9525"/>
          </a:xfrm>
          <a:prstGeom prst="rect">
            <a:avLst/>
          </a:prstGeom>
          <a:solidFill>
            <a:srgbClr val="D6EBFF"/>
          </a:solidFill>
          <a:ln/>
        </p:spPr>
      </p:sp>
      <p:sp>
        <p:nvSpPr>
          <p:cNvPr id="15" name="Text 13"/>
          <p:cNvSpPr/>
          <p:nvPr/>
        </p:nvSpPr>
        <p:spPr>
          <a:xfrm>
            <a:off x="4577953" y="4409926"/>
            <a:ext cx="13101030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4054"/>
              </a:lnSpc>
              <a:buNone/>
            </a:pPr>
            <a:r>
              <a:rPr lang="en-US" sz="24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先確認問題，再討論功能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990600" y="5992862"/>
            <a:ext cx="3587353" cy="9525"/>
          </a:xfrm>
          <a:prstGeom prst="rect">
            <a:avLst/>
          </a:prstGeom>
          <a:solidFill>
            <a:srgbClr val="D6EBFF"/>
          </a:solidFill>
          <a:ln/>
        </p:spPr>
      </p:sp>
      <p:sp>
        <p:nvSpPr>
          <p:cNvPr id="17" name="Text 15"/>
          <p:cNvSpPr/>
          <p:nvPr/>
        </p:nvSpPr>
        <p:spPr>
          <a:xfrm>
            <a:off x="990600" y="5310932"/>
            <a:ext cx="3466374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4054"/>
              </a:lnSpc>
              <a:buNone/>
            </a:pPr>
            <a:r>
              <a:rPr lang="en-US" sz="24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定義階段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4577953" y="5992862"/>
            <a:ext cx="12719447" cy="9525"/>
          </a:xfrm>
          <a:prstGeom prst="rect">
            <a:avLst/>
          </a:prstGeom>
          <a:solidFill>
            <a:srgbClr val="D6EBFF"/>
          </a:solidFill>
          <a:ln/>
        </p:spPr>
      </p:sp>
      <p:sp>
        <p:nvSpPr>
          <p:cNvPr id="19" name="Text 17"/>
          <p:cNvSpPr/>
          <p:nvPr/>
        </p:nvSpPr>
        <p:spPr>
          <a:xfrm>
            <a:off x="4577953" y="5310932"/>
            <a:ext cx="13101030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4054"/>
              </a:lnSpc>
              <a:buNone/>
            </a:pPr>
            <a:r>
              <a:rPr lang="en-US" sz="24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最小版本需要明確的邊界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990600" y="6893868"/>
            <a:ext cx="3587353" cy="9525"/>
          </a:xfrm>
          <a:prstGeom prst="rect">
            <a:avLst/>
          </a:prstGeom>
          <a:solidFill>
            <a:srgbClr val="D6EBFF"/>
          </a:solidFill>
          <a:ln/>
        </p:spPr>
      </p:sp>
      <p:sp>
        <p:nvSpPr>
          <p:cNvPr id="21" name="Text 19"/>
          <p:cNvSpPr/>
          <p:nvPr/>
        </p:nvSpPr>
        <p:spPr>
          <a:xfrm>
            <a:off x="990600" y="6211937"/>
            <a:ext cx="3466374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4054"/>
              </a:lnSpc>
              <a:buNone/>
            </a:pPr>
            <a:r>
              <a:rPr lang="en-US" sz="24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規劃階段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4577953" y="6893868"/>
            <a:ext cx="12719447" cy="9525"/>
          </a:xfrm>
          <a:prstGeom prst="rect">
            <a:avLst/>
          </a:prstGeom>
          <a:solidFill>
            <a:srgbClr val="D6EBFF"/>
          </a:solidFill>
          <a:ln/>
        </p:spPr>
      </p:sp>
      <p:sp>
        <p:nvSpPr>
          <p:cNvPr id="23" name="Text 21"/>
          <p:cNvSpPr/>
          <p:nvPr/>
        </p:nvSpPr>
        <p:spPr>
          <a:xfrm>
            <a:off x="4577953" y="6211937"/>
            <a:ext cx="13101030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4054"/>
              </a:lnSpc>
              <a:buNone/>
            </a:pPr>
            <a:r>
              <a:rPr lang="en-US" sz="24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每一步都要能被驗收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990600" y="7794873"/>
            <a:ext cx="3587353" cy="9525"/>
          </a:xfrm>
          <a:prstGeom prst="rect">
            <a:avLst/>
          </a:prstGeom>
          <a:solidFill>
            <a:srgbClr val="D6EBFF"/>
          </a:solidFill>
          <a:ln/>
        </p:spPr>
      </p:sp>
      <p:sp>
        <p:nvSpPr>
          <p:cNvPr id="25" name="Text 23"/>
          <p:cNvSpPr/>
          <p:nvPr/>
        </p:nvSpPr>
        <p:spPr>
          <a:xfrm>
            <a:off x="990600" y="7112943"/>
            <a:ext cx="3466374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4054"/>
              </a:lnSpc>
              <a:buNone/>
            </a:pPr>
            <a:r>
              <a:rPr lang="en-US" sz="24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實作階段</a:t>
            </a:r>
            <a:endParaRPr lang="en-US" sz="2400" dirty="0"/>
          </a:p>
        </p:txBody>
      </p:sp>
      <p:sp>
        <p:nvSpPr>
          <p:cNvPr id="26" name="Shape 24"/>
          <p:cNvSpPr/>
          <p:nvPr/>
        </p:nvSpPr>
        <p:spPr>
          <a:xfrm>
            <a:off x="4577953" y="7794873"/>
            <a:ext cx="12719447" cy="9525"/>
          </a:xfrm>
          <a:prstGeom prst="rect">
            <a:avLst/>
          </a:prstGeom>
          <a:solidFill>
            <a:srgbClr val="D6EBFF"/>
          </a:solidFill>
          <a:ln/>
        </p:spPr>
      </p:sp>
      <p:sp>
        <p:nvSpPr>
          <p:cNvPr id="27" name="Text 25"/>
          <p:cNvSpPr/>
          <p:nvPr/>
        </p:nvSpPr>
        <p:spPr>
          <a:xfrm>
            <a:off x="4577953" y="7112943"/>
            <a:ext cx="13101030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4054"/>
              </a:lnSpc>
              <a:buNone/>
            </a:pPr>
            <a:r>
              <a:rPr lang="en-US" sz="24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以驗收條件帶動迭代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990600" y="8013948"/>
            <a:ext cx="3466374" cy="5152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4054"/>
              </a:lnSpc>
              <a:buNone/>
            </a:pPr>
            <a:r>
              <a:rPr lang="en-US" sz="24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展示階段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4577953" y="8013948"/>
            <a:ext cx="13101030" cy="5152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4054"/>
              </a:lnSpc>
              <a:buNone/>
            </a:pPr>
            <a:r>
              <a:rPr lang="en-US" sz="24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展示判斷，不比較完成度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D2D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2899470"/>
            <a:ext cx="17937480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957"/>
              </a:lnSpc>
              <a:buNone/>
            </a:pPr>
            <a:r>
              <a:rPr lang="en-US" sz="13500" dirty="0">
                <a:solidFill>
                  <a:srgbClr val="94BC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500" dirty="0"/>
          </a:p>
        </p:txBody>
      </p:sp>
      <p:sp>
        <p:nvSpPr>
          <p:cNvPr id="3" name="Text 1"/>
          <p:cNvSpPr/>
          <p:nvPr/>
        </p:nvSpPr>
        <p:spPr>
          <a:xfrm>
            <a:off x="990600" y="4918770"/>
            <a:ext cx="17937480" cy="11276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134"/>
              </a:lnSpc>
              <a:buNone/>
            </a:pPr>
            <a:r>
              <a:rPr lang="en-US" sz="7800" b="1" spc="-117" kern="0" dirty="0">
                <a:solidFill>
                  <a:srgbClr val="F2F2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課程設計</a:t>
            </a:r>
            <a:endParaRPr lang="en-US" sz="7800" dirty="0"/>
          </a:p>
        </p:txBody>
      </p:sp>
      <p:sp>
        <p:nvSpPr>
          <p:cNvPr id="4" name="Text 2"/>
          <p:cNvSpPr/>
          <p:nvPr/>
        </p:nvSpPr>
        <p:spPr>
          <a:xfrm>
            <a:off x="990600" y="6313140"/>
            <a:ext cx="8669331" cy="1264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259"/>
              </a:lnSpc>
              <a:buNone/>
            </a:pPr>
            <a:r>
              <a:rPr lang="en-US" sz="3450" dirty="0">
                <a:solidFill>
                  <a:srgbClr val="B5D9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漸進式開放：先建立基本操作能力，再由學員提出真實需求。</a:t>
            </a:r>
            <a:endParaRPr lang="en-US" sz="3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2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914400"/>
            <a:ext cx="1793748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1800" spc="252" kern="0" dirty="0">
                <a:solidFill>
                  <a:srgbClr val="4161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STRUCTURE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600" y="1440061"/>
            <a:ext cx="17937480" cy="7764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385"/>
              </a:lnSpc>
              <a:buNone/>
            </a:pPr>
            <a:r>
              <a:rPr lang="en-US" sz="5100" b="1" spc="-76" kern="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漸進式開放的兩段結構</a:t>
            </a:r>
            <a:endParaRPr lang="en-US" sz="5100" dirty="0"/>
          </a:p>
        </p:txBody>
      </p:sp>
      <p:sp>
        <p:nvSpPr>
          <p:cNvPr id="4" name="Shape 2"/>
          <p:cNvSpPr/>
          <p:nvPr/>
        </p:nvSpPr>
        <p:spPr>
          <a:xfrm>
            <a:off x="990600" y="2635597"/>
            <a:ext cx="163068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90600" y="3102322"/>
            <a:ext cx="7886700" cy="3109764"/>
          </a:xfrm>
          <a:prstGeom prst="rect">
            <a:avLst/>
          </a:prstGeom>
          <a:ln w="9525">
            <a:solidFill>
              <a:srgbClr val="1F1F1F">
                <a:alpha val="16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81125" y="3530947"/>
            <a:ext cx="7816215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1800" spc="216" kern="0" dirty="0">
                <a:solidFill>
                  <a:srgbClr val="4161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前段 · 25 分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81125" y="4094708"/>
            <a:ext cx="7816215" cy="5725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926"/>
              </a:lnSpc>
              <a:buNone/>
            </a:pPr>
            <a:r>
              <a:rPr lang="en-US" sz="3450" b="1" spc="-52" kern="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共同練習：探究提問卡</a:t>
            </a:r>
            <a:endParaRPr lang="en-US" sz="3450" dirty="0"/>
          </a:p>
        </p:txBody>
      </p:sp>
      <p:sp>
        <p:nvSpPr>
          <p:cNvPr id="8" name="Text 6"/>
          <p:cNvSpPr/>
          <p:nvPr/>
        </p:nvSpPr>
        <p:spPr>
          <a:xfrm>
            <a:off x="1381125" y="4838700"/>
            <a:ext cx="7318820" cy="9828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054"/>
              </a:lnSpc>
              <a:buNone/>
            </a:pPr>
            <a:r>
              <a:rPr lang="en-US" sz="2400" dirty="0">
                <a:solidFill>
                  <a:srgbClr val="5D5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題目固定。描述、修改、驗證各做一次，建立基本操作能力。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9410700" y="3102322"/>
            <a:ext cx="7886700" cy="3109764"/>
          </a:xfrm>
          <a:prstGeom prst="rect">
            <a:avLst/>
          </a:prstGeom>
          <a:ln w="9525">
            <a:solidFill>
              <a:srgbClr val="1F1F1F">
                <a:alpha val="16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01225" y="3530947"/>
            <a:ext cx="7816215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1800" spc="216" kern="0" dirty="0">
                <a:solidFill>
                  <a:srgbClr val="4161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後段 · 100 分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801225" y="4094708"/>
            <a:ext cx="7816215" cy="5725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926"/>
              </a:lnSpc>
              <a:buNone/>
            </a:pPr>
            <a:r>
              <a:rPr lang="en-US" sz="3450" b="1" spc="-52" kern="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個人專題：學員自己的題目</a:t>
            </a:r>
            <a:endParaRPr lang="en-US" sz="3450" dirty="0"/>
          </a:p>
        </p:txBody>
      </p:sp>
      <p:sp>
        <p:nvSpPr>
          <p:cNvPr id="12" name="Text 10"/>
          <p:cNvSpPr/>
          <p:nvPr/>
        </p:nvSpPr>
        <p:spPr>
          <a:xfrm>
            <a:off x="9801225" y="4838700"/>
            <a:ext cx="7318820" cy="9828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054"/>
              </a:lnSpc>
              <a:buNone/>
            </a:pPr>
            <a:r>
              <a:rPr lang="en-US" sz="2400" dirty="0">
                <a:solidFill>
                  <a:srgbClr val="5D5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題目開放。從教學現場的真實問題縮小到可驗證的最小版本。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990600" y="6707386"/>
            <a:ext cx="16796004" cy="453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194"/>
              </a:lnSpc>
              <a:buNone/>
            </a:pPr>
            <a:r>
              <a:rPr lang="en-US" sz="1950" dirty="0">
                <a:solidFill>
                  <a:srgbClr val="5D5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兩段都放在同一個 repo（</a:t>
            </a:r>
            <a:pPr algn="l" indent="0" marL="0">
              <a:lnSpc>
                <a:spcPct val="134194"/>
              </a:lnSpc>
              <a:buNone/>
            </a:pPr>
            <a:r>
              <a:rPr lang="en-US" sz="1950" dirty="0">
                <a:solidFill>
                  <a:srgbClr val="5D5D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my-life-tools</a:t>
            </a:r>
            <a:pPr algn="l" indent="0" marL="0">
              <a:lnSpc>
                <a:spcPct val="134194"/>
              </a:lnSpc>
              <a:buNone/>
            </a:pPr>
            <a:r>
              <a:rPr lang="en-US" sz="1950" dirty="0">
                <a:solidFill>
                  <a:srgbClr val="5D5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）。每日摘要與習慣追蹤案例保留為備用路徑與課後參考。</a:t>
            </a:r>
            <a:endParaRPr lang="en-US" sz="1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2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914400"/>
            <a:ext cx="1793748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1800" spc="252" kern="0" dirty="0">
                <a:solidFill>
                  <a:srgbClr val="4161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CYCLE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600" y="1440061"/>
            <a:ext cx="17937480" cy="7764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385"/>
              </a:lnSpc>
              <a:buNone/>
            </a:pPr>
            <a:r>
              <a:rPr lang="en-US" sz="5100" b="1" spc="-76" kern="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專題循環</a:t>
            </a:r>
            <a:endParaRPr lang="en-US" sz="5100" dirty="0"/>
          </a:p>
        </p:txBody>
      </p:sp>
      <p:sp>
        <p:nvSpPr>
          <p:cNvPr id="4" name="Shape 2"/>
          <p:cNvSpPr/>
          <p:nvPr/>
        </p:nvSpPr>
        <p:spPr>
          <a:xfrm>
            <a:off x="990600" y="2635597"/>
            <a:ext cx="163068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90600" y="3102322"/>
            <a:ext cx="3848100" cy="1535311"/>
          </a:xfrm>
          <a:prstGeom prst="rect">
            <a:avLst/>
          </a:prstGeom>
          <a:ln w="9525">
            <a:solidFill>
              <a:srgbClr val="1F1F1F">
                <a:alpha val="16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47775" y="3397597"/>
            <a:ext cx="3667125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1800" dirty="0">
                <a:solidFill>
                  <a:srgbClr val="4161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47775" y="3885158"/>
            <a:ext cx="366712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30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提出問題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5143500" y="3102322"/>
            <a:ext cx="3848100" cy="1535311"/>
          </a:xfrm>
          <a:prstGeom prst="rect">
            <a:avLst/>
          </a:prstGeom>
          <a:ln w="9525">
            <a:solidFill>
              <a:srgbClr val="1F1F1F">
                <a:alpha val="16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00675" y="3397597"/>
            <a:ext cx="3667125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1800" dirty="0">
                <a:solidFill>
                  <a:srgbClr val="4161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00675" y="3885158"/>
            <a:ext cx="366712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30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選定題目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9296400" y="3102322"/>
            <a:ext cx="3848100" cy="1535311"/>
          </a:xfrm>
          <a:prstGeom prst="rect">
            <a:avLst/>
          </a:prstGeom>
          <a:ln w="9525">
            <a:solidFill>
              <a:srgbClr val="1F1F1F">
                <a:alpha val="16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53575" y="3397597"/>
            <a:ext cx="3667125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1800" dirty="0">
                <a:solidFill>
                  <a:srgbClr val="4161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553575" y="3885158"/>
            <a:ext cx="366712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30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定義最小目標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13449300" y="3102322"/>
            <a:ext cx="3848100" cy="1535311"/>
          </a:xfrm>
          <a:prstGeom prst="rect">
            <a:avLst/>
          </a:prstGeom>
          <a:ln w="9525">
            <a:solidFill>
              <a:srgbClr val="1F1F1F">
                <a:alpha val="16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706475" y="3397597"/>
            <a:ext cx="3667125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1800" dirty="0">
                <a:solidFill>
                  <a:srgbClr val="4161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706475" y="3885158"/>
            <a:ext cx="366712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30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寫出驗收條件</a:t>
            </a: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990600" y="4942433"/>
            <a:ext cx="3848100" cy="1535311"/>
          </a:xfrm>
          <a:prstGeom prst="rect">
            <a:avLst/>
          </a:prstGeom>
          <a:ln w="9525">
            <a:solidFill>
              <a:srgbClr val="1F1F1F">
                <a:alpha val="16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47775" y="5237708"/>
            <a:ext cx="3667125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1800" dirty="0">
                <a:solidFill>
                  <a:srgbClr val="4161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47775" y="5725269"/>
            <a:ext cx="366712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30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拆解步驟</a:t>
            </a:r>
            <a:endParaRPr lang="en-US" sz="3000" dirty="0"/>
          </a:p>
        </p:txBody>
      </p:sp>
      <p:sp>
        <p:nvSpPr>
          <p:cNvPr id="20" name="Shape 18"/>
          <p:cNvSpPr/>
          <p:nvPr/>
        </p:nvSpPr>
        <p:spPr>
          <a:xfrm>
            <a:off x="5143500" y="4942433"/>
            <a:ext cx="3848100" cy="1535311"/>
          </a:xfrm>
          <a:prstGeom prst="rect">
            <a:avLst/>
          </a:prstGeom>
          <a:ln w="9525">
            <a:solidFill>
              <a:srgbClr val="1F1F1F">
                <a:alpha val="16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00675" y="5237708"/>
            <a:ext cx="3667125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1800" dirty="0">
                <a:solidFill>
                  <a:srgbClr val="4161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400675" y="5725269"/>
            <a:ext cx="366712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30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分段實作</a:t>
            </a:r>
            <a:endParaRPr lang="en-US" sz="3000" dirty="0"/>
          </a:p>
        </p:txBody>
      </p:sp>
      <p:sp>
        <p:nvSpPr>
          <p:cNvPr id="23" name="Shape 21"/>
          <p:cNvSpPr/>
          <p:nvPr/>
        </p:nvSpPr>
        <p:spPr>
          <a:xfrm>
            <a:off x="9296400" y="4942433"/>
            <a:ext cx="3848100" cy="1535311"/>
          </a:xfrm>
          <a:prstGeom prst="rect">
            <a:avLst/>
          </a:prstGeom>
          <a:ln w="9525">
            <a:solidFill>
              <a:srgbClr val="1F1F1F">
                <a:alpha val="16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553575" y="5237708"/>
            <a:ext cx="3667125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1800" dirty="0">
                <a:solidFill>
                  <a:srgbClr val="4161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553575" y="5725269"/>
            <a:ext cx="366712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30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驗證</a:t>
            </a:r>
            <a:endParaRPr lang="en-US" sz="3000" dirty="0"/>
          </a:p>
        </p:txBody>
      </p:sp>
      <p:sp>
        <p:nvSpPr>
          <p:cNvPr id="26" name="Shape 24"/>
          <p:cNvSpPr/>
          <p:nvPr/>
        </p:nvSpPr>
        <p:spPr>
          <a:xfrm>
            <a:off x="13449300" y="4942433"/>
            <a:ext cx="3848100" cy="1535311"/>
          </a:xfrm>
          <a:prstGeom prst="rect">
            <a:avLst/>
          </a:prstGeom>
          <a:solidFill>
            <a:srgbClr val="EEF6FF"/>
          </a:solidFill>
          <a:ln w="9525">
            <a:solidFill>
              <a:srgbClr val="5980A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3706475" y="5237708"/>
            <a:ext cx="3667125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1800" dirty="0">
                <a:solidFill>
                  <a:srgbClr val="2C45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3706475" y="5725269"/>
            <a:ext cx="366712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3000" dirty="0">
                <a:solidFill>
                  <a:srgbClr val="2C45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展示與規劃下一版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990600" y="6973044"/>
            <a:ext cx="17937480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194"/>
              </a:lnSpc>
              <a:buNone/>
            </a:pPr>
            <a:r>
              <a:rPr lang="en-US" sz="1950" dirty="0">
                <a:solidFill>
                  <a:srgbClr val="5D5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計畫是目前的最佳理解，不是不能改動的規則。結果讓學員改變需求時，先更新簡述或計畫，再修改檔案。</a:t>
            </a:r>
            <a:endParaRPr lang="en-US" sz="1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2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914400"/>
            <a:ext cx="1793748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1800" spc="252" kern="0" dirty="0">
                <a:solidFill>
                  <a:srgbClr val="4161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PRINCIPLE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600" y="1440061"/>
            <a:ext cx="17937480" cy="7764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385"/>
              </a:lnSpc>
              <a:buNone/>
            </a:pPr>
            <a:r>
              <a:rPr lang="en-US" sz="5100" b="1" spc="-76" kern="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編排原則</a:t>
            </a:r>
            <a:endParaRPr lang="en-US" sz="5100" dirty="0"/>
          </a:p>
        </p:txBody>
      </p:sp>
      <p:sp>
        <p:nvSpPr>
          <p:cNvPr id="4" name="Shape 2"/>
          <p:cNvSpPr/>
          <p:nvPr/>
        </p:nvSpPr>
        <p:spPr>
          <a:xfrm>
            <a:off x="990600" y="2635597"/>
            <a:ext cx="7104757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90600" y="3102322"/>
            <a:ext cx="7317900" cy="1424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dirty="0">
                <a:solidFill>
                  <a:srgbClr val="2C45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先形成自己的判斷，再請 AI 協助。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990600" y="5060603"/>
            <a:ext cx="867537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1800" spc="216" kern="0" dirty="0">
                <a:solidFill>
                  <a:srgbClr val="4161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發想階段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90600" y="5567214"/>
            <a:ext cx="8675370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054"/>
              </a:lnSpc>
              <a:buNone/>
            </a:pPr>
            <a:r>
              <a:rPr lang="en-US" sz="24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先描述問題，不先要求 AI 提供解法。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410700" y="5060603"/>
            <a:ext cx="867537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1800" spc="216" kern="0" dirty="0">
                <a:solidFill>
                  <a:srgbClr val="4161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規劃階段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410700" y="5567214"/>
            <a:ext cx="8123301" cy="9828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054"/>
              </a:lnSpc>
              <a:buNone/>
            </a:pPr>
            <a:r>
              <a:rPr lang="en-US" sz="24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先由學員界定目標與限制，再請 AI 協助檢查範圍與拆解步驟。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990600" y="7045375"/>
            <a:ext cx="17937480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194"/>
              </a:lnSpc>
              <a:buNone/>
            </a:pPr>
            <a:r>
              <a:rPr lang="en-US" sz="1950" dirty="0">
                <a:solidFill>
                  <a:srgbClr val="5D5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每一輪實作都以學員自己寫出的驗收條件判斷結果。</a:t>
            </a:r>
            <a:endParaRPr lang="en-US" sz="1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2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914400"/>
            <a:ext cx="1793748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1800" spc="252" kern="0" dirty="0">
                <a:solidFill>
                  <a:srgbClr val="4161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SCOPE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600" y="1440061"/>
            <a:ext cx="17937480" cy="7764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385"/>
              </a:lnSpc>
              <a:buNone/>
            </a:pPr>
            <a:r>
              <a:rPr lang="en-US" sz="5100" b="1" spc="-76" kern="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題目邊界</a:t>
            </a:r>
            <a:endParaRPr lang="en-US" sz="5100" dirty="0"/>
          </a:p>
        </p:txBody>
      </p:sp>
      <p:sp>
        <p:nvSpPr>
          <p:cNvPr id="4" name="Shape 2"/>
          <p:cNvSpPr/>
          <p:nvPr/>
        </p:nvSpPr>
        <p:spPr>
          <a:xfrm>
            <a:off x="990600" y="2635597"/>
            <a:ext cx="163068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90600" y="3102322"/>
            <a:ext cx="854964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1800" spc="216" kern="0" dirty="0">
                <a:solidFill>
                  <a:srgbClr val="4161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適合課堂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42911" y="3685133"/>
            <a:ext cx="7696289" cy="3524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213360" indent="-213360">
              <a:lnSpc>
                <a:spcPct val="151351"/>
              </a:lnSpc>
              <a:buSzPct val="100000"/>
              <a:buChar char="•"/>
              <a:tabLst>
                <a:tab pos="213360" algn="l"/>
              </a:tabLst>
            </a:pPr>
            <a:r>
              <a:rPr lang="en-US" sz="24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一個主要使用者</a:t>
            </a:r>
            <a:endParaRPr lang="en-US" sz="2400" dirty="0"/>
          </a:p>
          <a:p>
            <a:pPr algn="l" marL="213360" indent="-213360">
              <a:lnSpc>
                <a:spcPct val="151351"/>
              </a:lnSpc>
              <a:buSzPct val="100000"/>
              <a:buChar char="•"/>
              <a:tabLst>
                <a:tab pos="213360" algn="l"/>
              </a:tabLst>
            </a:pPr>
            <a:r>
              <a:rPr lang="en-US" sz="24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一個核心問題</a:t>
            </a:r>
            <a:endParaRPr lang="en-US" sz="2400" dirty="0"/>
          </a:p>
          <a:p>
            <a:pPr algn="l" marL="213360" indent="-213360">
              <a:lnSpc>
                <a:spcPct val="151351"/>
              </a:lnSpc>
              <a:buSzPct val="100000"/>
              <a:buChar char="•"/>
              <a:tabLst>
                <a:tab pos="213360" algn="l"/>
              </a:tabLst>
            </a:pPr>
            <a:r>
              <a:rPr lang="en-US" sz="24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一個可展示流程</a:t>
            </a:r>
            <a:endParaRPr lang="en-US" sz="2400" dirty="0"/>
          </a:p>
          <a:p>
            <a:pPr algn="l" marL="213360" indent="-213360">
              <a:lnSpc>
                <a:spcPct val="151351"/>
              </a:lnSpc>
              <a:buSzPct val="100000"/>
              <a:buChar char="•"/>
              <a:tabLst>
                <a:tab pos="213360" algn="l"/>
              </a:tabLst>
            </a:pPr>
            <a:r>
              <a:rPr lang="en-US" sz="24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2–3 項必要功能</a:t>
            </a:r>
            <a:endParaRPr lang="en-US" sz="2400" dirty="0"/>
          </a:p>
          <a:p>
            <a:pPr algn="l" marL="213360" indent="-213360">
              <a:lnSpc>
                <a:spcPct val="151351"/>
              </a:lnSpc>
              <a:buSzPct val="100000"/>
              <a:buChar char="•"/>
              <a:tabLst>
                <a:tab pos="213360" algn="l"/>
              </a:tabLst>
            </a:pPr>
            <a:r>
              <a:rPr lang="en-US" sz="24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可用畫面或操作驗證</a:t>
            </a:r>
            <a:endParaRPr lang="en-US" sz="2400" dirty="0"/>
          </a:p>
          <a:p>
            <a:pPr algn="l" marL="213360" indent="-213360">
              <a:lnSpc>
                <a:spcPct val="151351"/>
              </a:lnSpc>
              <a:buSzPct val="100000"/>
              <a:buChar char="•"/>
              <a:tabLst>
                <a:tab pos="213360" algn="l"/>
              </a:tabLst>
            </a:pPr>
            <a:r>
              <a:rPr lang="en-US" sz="24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低風險、可回復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525000" y="3102322"/>
            <a:ext cx="854964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1800" spc="216" kern="0" dirty="0">
                <a:solidFill>
                  <a:srgbClr val="7A7A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列入後續版本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77311" y="3685133"/>
            <a:ext cx="7696289" cy="3524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213360" indent="-213360">
              <a:lnSpc>
                <a:spcPct val="151351"/>
              </a:lnSpc>
              <a:buSzPct val="100000"/>
              <a:buChar char="•"/>
              <a:tabLst>
                <a:tab pos="213360" algn="l"/>
              </a:tabLst>
            </a:pPr>
            <a:r>
              <a:rPr lang="en-US" sz="2400" dirty="0">
                <a:solidFill>
                  <a:srgbClr val="5D5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登入、資料庫、付款</a:t>
            </a:r>
            <a:endParaRPr lang="en-US" sz="2400" dirty="0"/>
          </a:p>
          <a:p>
            <a:pPr algn="l" marL="213360" indent="-213360">
              <a:lnSpc>
                <a:spcPct val="151351"/>
              </a:lnSpc>
              <a:buSzPct val="100000"/>
              <a:buChar char="•"/>
              <a:tabLst>
                <a:tab pos="213360" algn="l"/>
              </a:tabLst>
            </a:pPr>
            <a:r>
              <a:rPr lang="en-US" sz="2400" dirty="0">
                <a:solidFill>
                  <a:srgbClr val="5D5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多人即時同步</a:t>
            </a:r>
            <a:endParaRPr lang="en-US" sz="2400" dirty="0"/>
          </a:p>
          <a:p>
            <a:pPr algn="l" marL="213360" indent="-213360">
              <a:lnSpc>
                <a:spcPct val="151351"/>
              </a:lnSpc>
              <a:buSzPct val="100000"/>
              <a:buChar char="•"/>
              <a:tabLst>
                <a:tab pos="213360" algn="l"/>
              </a:tabLst>
            </a:pPr>
            <a:r>
              <a:rPr lang="en-US" sz="2400" dirty="0">
                <a:solidFill>
                  <a:srgbClr val="5D5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醫療或法律判斷</a:t>
            </a:r>
            <a:endParaRPr lang="en-US" sz="2400" dirty="0"/>
          </a:p>
          <a:p>
            <a:pPr algn="l" marL="213360" indent="-213360">
              <a:lnSpc>
                <a:spcPct val="151351"/>
              </a:lnSpc>
              <a:buSzPct val="100000"/>
              <a:buChar char="•"/>
              <a:tabLst>
                <a:tab pos="213360" algn="l"/>
              </a:tabLst>
            </a:pPr>
            <a:r>
              <a:rPr lang="en-US" sz="2400" dirty="0">
                <a:solidFill>
                  <a:srgbClr val="5D5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敏感個資</a:t>
            </a:r>
            <a:endParaRPr lang="en-US" sz="2400" dirty="0"/>
          </a:p>
          <a:p>
            <a:pPr algn="l" marL="213360" indent="-213360">
              <a:lnSpc>
                <a:spcPct val="151351"/>
              </a:lnSpc>
              <a:buSzPct val="100000"/>
              <a:buChar char="•"/>
              <a:tabLst>
                <a:tab pos="213360" algn="l"/>
              </a:tabLst>
            </a:pPr>
            <a:r>
              <a:rPr lang="en-US" sz="2400" dirty="0">
                <a:solidFill>
                  <a:srgbClr val="5D5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大量外部資料整合</a:t>
            </a:r>
            <a:endParaRPr lang="en-US" sz="2400" dirty="0"/>
          </a:p>
          <a:p>
            <a:pPr algn="l" marL="213360" indent="-213360">
              <a:lnSpc>
                <a:spcPct val="151351"/>
              </a:lnSpc>
              <a:buSzPct val="100000"/>
              <a:buChar char="•"/>
              <a:tabLst>
                <a:tab pos="213360" algn="l"/>
              </a:tabLst>
            </a:pPr>
            <a:r>
              <a:rPr lang="en-US" sz="2400" dirty="0">
                <a:solidFill>
                  <a:srgbClr val="5D5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自動對外寄送</a:t>
            </a:r>
            <a:endParaRPr lang="en-US"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D2D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2899470"/>
            <a:ext cx="17937480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957"/>
              </a:lnSpc>
              <a:buNone/>
            </a:pPr>
            <a:r>
              <a:rPr lang="en-US" sz="13500" dirty="0">
                <a:solidFill>
                  <a:srgbClr val="94BC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500" dirty="0"/>
          </a:p>
        </p:txBody>
      </p:sp>
      <p:sp>
        <p:nvSpPr>
          <p:cNvPr id="3" name="Text 1"/>
          <p:cNvSpPr/>
          <p:nvPr/>
        </p:nvSpPr>
        <p:spPr>
          <a:xfrm>
            <a:off x="990600" y="4918770"/>
            <a:ext cx="17937480" cy="11276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134"/>
              </a:lnSpc>
              <a:buNone/>
            </a:pPr>
            <a:r>
              <a:rPr lang="en-US" sz="7800" b="1" spc="-117" kern="0" dirty="0">
                <a:solidFill>
                  <a:srgbClr val="F2F2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三小時流程</a:t>
            </a:r>
            <a:endParaRPr lang="en-US" sz="7800" dirty="0"/>
          </a:p>
        </p:txBody>
      </p:sp>
      <p:sp>
        <p:nvSpPr>
          <p:cNvPr id="4" name="Text 2"/>
          <p:cNvSpPr/>
          <p:nvPr/>
        </p:nvSpPr>
        <p:spPr>
          <a:xfrm>
            <a:off x="990600" y="6313140"/>
            <a:ext cx="8669331" cy="1264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259"/>
              </a:lnSpc>
              <a:buNone/>
            </a:pPr>
            <a:r>
              <a:rPr lang="en-US" sz="3450" dirty="0">
                <a:solidFill>
                  <a:srgbClr val="B5D9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十二個段落。時間與順序的唯一真實來源是 variant-free/instructor/timeline.md。</a:t>
            </a:r>
            <a:endParaRPr lang="en-US" sz="34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2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762000"/>
            <a:ext cx="3467725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769"/>
              </a:lnSpc>
              <a:buNone/>
            </a:pPr>
            <a:r>
              <a:rPr lang="en-US" sz="4200" b="1" spc="-63" kern="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三小時流程表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4447877" y="1019175"/>
            <a:ext cx="3994547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1800" spc="216" kern="0" dirty="0">
                <a:solidFill>
                  <a:srgbClr val="4161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variant-free/instructor/timeline.md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990600" y="2211586"/>
            <a:ext cx="4239667" cy="9525"/>
          </a:xfrm>
          <a:prstGeom prst="rect">
            <a:avLst/>
          </a:prstGeom>
          <a:solidFill>
            <a:srgbClr val="D6EBFF"/>
          </a:solidFill>
          <a:ln/>
        </p:spPr>
      </p:sp>
      <p:sp>
        <p:nvSpPr>
          <p:cNvPr id="5" name="Text 3"/>
          <p:cNvSpPr/>
          <p:nvPr/>
        </p:nvSpPr>
        <p:spPr>
          <a:xfrm>
            <a:off x="990600" y="1687711"/>
            <a:ext cx="4366857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225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開場 + 完整存檔 Demo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5230267" y="2211586"/>
            <a:ext cx="10110341" cy="9525"/>
          </a:xfrm>
          <a:prstGeom prst="rect">
            <a:avLst/>
          </a:prstGeom>
          <a:solidFill>
            <a:srgbClr val="D6EBFF"/>
          </a:solidFill>
          <a:ln/>
        </p:spPr>
      </p:sp>
      <p:sp>
        <p:nvSpPr>
          <p:cNvPr id="7" name="Text 5"/>
          <p:cNvSpPr/>
          <p:nvPr/>
        </p:nvSpPr>
        <p:spPr>
          <a:xfrm>
            <a:off x="5230267" y="1687711"/>
            <a:ext cx="10413651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625"/>
              </a:lnSpc>
              <a:buNone/>
            </a:pPr>
            <a:r>
              <a:rPr lang="en-US" sz="2100" dirty="0">
                <a:solidFill>
                  <a:srgbClr val="5D5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現場示範問、貼、存、開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15340608" y="2211586"/>
            <a:ext cx="1956792" cy="9525"/>
          </a:xfrm>
          <a:prstGeom prst="rect">
            <a:avLst/>
          </a:prstGeom>
          <a:solidFill>
            <a:srgbClr val="D6EBFF"/>
          </a:solidFill>
          <a:ln/>
        </p:spPr>
      </p:sp>
      <p:sp>
        <p:nvSpPr>
          <p:cNvPr id="9" name="Text 7"/>
          <p:cNvSpPr/>
          <p:nvPr/>
        </p:nvSpPr>
        <p:spPr>
          <a:xfrm>
            <a:off x="15264408" y="1687711"/>
            <a:ext cx="2032992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36765"/>
              </a:lnSpc>
              <a:buNone/>
            </a:pPr>
            <a:r>
              <a:rPr lang="en-US" sz="225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分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990600" y="2835473"/>
            <a:ext cx="4239667" cy="9525"/>
          </a:xfrm>
          <a:prstGeom prst="rect">
            <a:avLst/>
          </a:prstGeom>
          <a:solidFill>
            <a:srgbClr val="D6EBFF"/>
          </a:solidFill>
          <a:ln/>
        </p:spPr>
      </p:sp>
      <p:sp>
        <p:nvSpPr>
          <p:cNvPr id="11" name="Text 9"/>
          <p:cNvSpPr/>
          <p:nvPr/>
        </p:nvSpPr>
        <p:spPr>
          <a:xfrm>
            <a:off x="990600" y="2306836"/>
            <a:ext cx="4366857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225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三個名詞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5230267" y="2835473"/>
            <a:ext cx="10110341" cy="9525"/>
          </a:xfrm>
          <a:prstGeom prst="rect">
            <a:avLst/>
          </a:prstGeom>
          <a:solidFill>
            <a:srgbClr val="D6EBFF"/>
          </a:solidFill>
          <a:ln/>
        </p:spPr>
      </p:sp>
      <p:sp>
        <p:nvSpPr>
          <p:cNvPr id="13" name="Text 11"/>
          <p:cNvSpPr/>
          <p:nvPr/>
        </p:nvSpPr>
        <p:spPr>
          <a:xfrm>
            <a:off x="5230267" y="2306836"/>
            <a:ext cx="10413651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625"/>
              </a:lnSpc>
              <a:buNone/>
            </a:pPr>
            <a:r>
              <a:rPr lang="en-US" sz="2100" dirty="0">
                <a:solidFill>
                  <a:srgbClr val="5D5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claude.ai / repo / GitHub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15340608" y="2835473"/>
            <a:ext cx="1956792" cy="9525"/>
          </a:xfrm>
          <a:prstGeom prst="rect">
            <a:avLst/>
          </a:prstGeom>
          <a:solidFill>
            <a:srgbClr val="D6EBFF"/>
          </a:solidFill>
          <a:ln/>
        </p:spPr>
      </p:sp>
      <p:sp>
        <p:nvSpPr>
          <p:cNvPr id="15" name="Text 13"/>
          <p:cNvSpPr/>
          <p:nvPr/>
        </p:nvSpPr>
        <p:spPr>
          <a:xfrm>
            <a:off x="15264408" y="2306836"/>
            <a:ext cx="2032992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36765"/>
              </a:lnSpc>
              <a:buNone/>
            </a:pPr>
            <a:r>
              <a:rPr lang="en-US" sz="225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分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990600" y="3459361"/>
            <a:ext cx="4239667" cy="9525"/>
          </a:xfrm>
          <a:prstGeom prst="rect">
            <a:avLst/>
          </a:prstGeom>
          <a:solidFill>
            <a:srgbClr val="D6EBFF"/>
          </a:solidFill>
          <a:ln/>
        </p:spPr>
      </p:sp>
      <p:sp>
        <p:nvSpPr>
          <p:cNvPr id="17" name="Text 15"/>
          <p:cNvSpPr/>
          <p:nvPr/>
        </p:nvSpPr>
        <p:spPr>
          <a:xfrm>
            <a:off x="990600" y="2930723"/>
            <a:ext cx="4366857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2250" dirty="0">
                <a:solidFill>
                  <a:srgbClr val="2C45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0</a:t>
            </a:r>
            <a:endParaRPr lang="en-US" sz="2250" dirty="0"/>
          </a:p>
        </p:txBody>
      </p:sp>
      <p:sp>
        <p:nvSpPr>
          <p:cNvPr id="18" name="Shape 16"/>
          <p:cNvSpPr/>
          <p:nvPr/>
        </p:nvSpPr>
        <p:spPr>
          <a:xfrm>
            <a:off x="5230267" y="3459361"/>
            <a:ext cx="10110341" cy="9525"/>
          </a:xfrm>
          <a:prstGeom prst="rect">
            <a:avLst/>
          </a:prstGeom>
          <a:solidFill>
            <a:srgbClr val="D6EBFF"/>
          </a:solidFill>
          <a:ln/>
        </p:spPr>
      </p:sp>
      <p:sp>
        <p:nvSpPr>
          <p:cNvPr id="19" name="Text 17"/>
          <p:cNvSpPr/>
          <p:nvPr/>
        </p:nvSpPr>
        <p:spPr>
          <a:xfrm>
            <a:off x="5230267" y="2930723"/>
            <a:ext cx="10413651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625"/>
              </a:lnSpc>
              <a:buNone/>
            </a:pPr>
            <a:r>
              <a:rPr lang="en-US" sz="2100" dirty="0">
                <a:solidFill>
                  <a:srgbClr val="5D5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帳號 + 存檔練習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15340608" y="3459361"/>
            <a:ext cx="1956792" cy="9525"/>
          </a:xfrm>
          <a:prstGeom prst="rect">
            <a:avLst/>
          </a:prstGeom>
          <a:solidFill>
            <a:srgbClr val="D6EBFF"/>
          </a:solidFill>
          <a:ln/>
        </p:spPr>
      </p:sp>
      <p:sp>
        <p:nvSpPr>
          <p:cNvPr id="21" name="Text 19"/>
          <p:cNvSpPr/>
          <p:nvPr/>
        </p:nvSpPr>
        <p:spPr>
          <a:xfrm>
            <a:off x="15264408" y="2930723"/>
            <a:ext cx="2032992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36765"/>
              </a:lnSpc>
              <a:buNone/>
            </a:pPr>
            <a:r>
              <a:rPr lang="en-US" sz="225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分</a:t>
            </a:r>
            <a:endParaRPr lang="en-US" sz="2250" dirty="0"/>
          </a:p>
        </p:txBody>
      </p:sp>
      <p:sp>
        <p:nvSpPr>
          <p:cNvPr id="22" name="Shape 20"/>
          <p:cNvSpPr/>
          <p:nvPr/>
        </p:nvSpPr>
        <p:spPr>
          <a:xfrm>
            <a:off x="990600" y="4083248"/>
            <a:ext cx="4239667" cy="9525"/>
          </a:xfrm>
          <a:prstGeom prst="rect">
            <a:avLst/>
          </a:prstGeom>
          <a:solidFill>
            <a:srgbClr val="D6EBFF"/>
          </a:solidFill>
          <a:ln/>
        </p:spPr>
      </p:sp>
      <p:sp>
        <p:nvSpPr>
          <p:cNvPr id="23" name="Text 21"/>
          <p:cNvSpPr/>
          <p:nvPr/>
        </p:nvSpPr>
        <p:spPr>
          <a:xfrm>
            <a:off x="990600" y="3554611"/>
            <a:ext cx="4366857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2250" dirty="0">
                <a:solidFill>
                  <a:srgbClr val="2C45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共同練習</a:t>
            </a:r>
            <a:endParaRPr lang="en-US" sz="2250" dirty="0"/>
          </a:p>
        </p:txBody>
      </p:sp>
      <p:sp>
        <p:nvSpPr>
          <p:cNvPr id="24" name="Shape 22"/>
          <p:cNvSpPr/>
          <p:nvPr/>
        </p:nvSpPr>
        <p:spPr>
          <a:xfrm>
            <a:off x="5230267" y="4083248"/>
            <a:ext cx="10110341" cy="9525"/>
          </a:xfrm>
          <a:prstGeom prst="rect">
            <a:avLst/>
          </a:prstGeom>
          <a:solidFill>
            <a:srgbClr val="D6EBFF"/>
          </a:solidFill>
          <a:ln/>
        </p:spPr>
      </p:sp>
      <p:sp>
        <p:nvSpPr>
          <p:cNvPr id="25" name="Text 23"/>
          <p:cNvSpPr/>
          <p:nvPr/>
        </p:nvSpPr>
        <p:spPr>
          <a:xfrm>
            <a:off x="5230267" y="3554611"/>
            <a:ext cx="10413651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625"/>
              </a:lnSpc>
              <a:buNone/>
            </a:pPr>
            <a:r>
              <a:rPr lang="en-US" sz="2100" dirty="0">
                <a:solidFill>
                  <a:srgbClr val="5D5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探究提問卡：描述、更新、上傳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15340608" y="4083248"/>
            <a:ext cx="1956792" cy="9525"/>
          </a:xfrm>
          <a:prstGeom prst="rect">
            <a:avLst/>
          </a:prstGeom>
          <a:solidFill>
            <a:srgbClr val="D6EBFF"/>
          </a:solidFill>
          <a:ln/>
        </p:spPr>
      </p:sp>
      <p:sp>
        <p:nvSpPr>
          <p:cNvPr id="27" name="Text 25"/>
          <p:cNvSpPr/>
          <p:nvPr/>
        </p:nvSpPr>
        <p:spPr>
          <a:xfrm>
            <a:off x="15264408" y="3554611"/>
            <a:ext cx="2032992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36765"/>
              </a:lnSpc>
              <a:buNone/>
            </a:pPr>
            <a:r>
              <a:rPr lang="en-US" sz="225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分</a:t>
            </a:r>
            <a:endParaRPr lang="en-US" sz="2250" dirty="0"/>
          </a:p>
        </p:txBody>
      </p:sp>
      <p:sp>
        <p:nvSpPr>
          <p:cNvPr id="28" name="Shape 26"/>
          <p:cNvSpPr/>
          <p:nvPr/>
        </p:nvSpPr>
        <p:spPr>
          <a:xfrm>
            <a:off x="990600" y="4707136"/>
            <a:ext cx="4239667" cy="9525"/>
          </a:xfrm>
          <a:prstGeom prst="rect">
            <a:avLst/>
          </a:prstGeom>
          <a:solidFill>
            <a:srgbClr val="D6EBFF"/>
          </a:solidFill>
          <a:ln/>
        </p:spPr>
      </p:sp>
      <p:sp>
        <p:nvSpPr>
          <p:cNvPr id="29" name="Text 27"/>
          <p:cNvSpPr/>
          <p:nvPr/>
        </p:nvSpPr>
        <p:spPr>
          <a:xfrm>
            <a:off x="990600" y="4178498"/>
            <a:ext cx="4366857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225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回顧 + 補充段落</a:t>
            </a:r>
            <a:endParaRPr lang="en-US" sz="2250" dirty="0"/>
          </a:p>
        </p:txBody>
      </p:sp>
      <p:sp>
        <p:nvSpPr>
          <p:cNvPr id="30" name="Shape 28"/>
          <p:cNvSpPr/>
          <p:nvPr/>
        </p:nvSpPr>
        <p:spPr>
          <a:xfrm>
            <a:off x="5230267" y="4707136"/>
            <a:ext cx="10110341" cy="9525"/>
          </a:xfrm>
          <a:prstGeom prst="rect">
            <a:avLst/>
          </a:prstGeom>
          <a:solidFill>
            <a:srgbClr val="D6EBFF"/>
          </a:solidFill>
          <a:ln/>
        </p:spPr>
      </p:sp>
      <p:sp>
        <p:nvSpPr>
          <p:cNvPr id="31" name="Text 29"/>
          <p:cNvSpPr/>
          <p:nvPr/>
        </p:nvSpPr>
        <p:spPr>
          <a:xfrm>
            <a:off x="5230267" y="4178498"/>
            <a:ext cx="10413651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625"/>
              </a:lnSpc>
              <a:buNone/>
            </a:pPr>
            <a:r>
              <a:rPr lang="en-US" sz="2100" dirty="0">
                <a:solidFill>
                  <a:srgbClr val="5D5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兩類工作、AI 演進與人的判斷</a:t>
            </a:r>
            <a:endParaRPr lang="en-US" sz="2100" dirty="0"/>
          </a:p>
        </p:txBody>
      </p:sp>
      <p:sp>
        <p:nvSpPr>
          <p:cNvPr id="32" name="Shape 30"/>
          <p:cNvSpPr/>
          <p:nvPr/>
        </p:nvSpPr>
        <p:spPr>
          <a:xfrm>
            <a:off x="15340608" y="4707136"/>
            <a:ext cx="1956792" cy="9525"/>
          </a:xfrm>
          <a:prstGeom prst="rect">
            <a:avLst/>
          </a:prstGeom>
          <a:solidFill>
            <a:srgbClr val="D6EBFF"/>
          </a:solidFill>
          <a:ln/>
        </p:spPr>
      </p:sp>
      <p:sp>
        <p:nvSpPr>
          <p:cNvPr id="33" name="Text 31"/>
          <p:cNvSpPr/>
          <p:nvPr/>
        </p:nvSpPr>
        <p:spPr>
          <a:xfrm>
            <a:off x="15264408" y="4178498"/>
            <a:ext cx="2032992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36765"/>
              </a:lnSpc>
              <a:buNone/>
            </a:pPr>
            <a:r>
              <a:rPr lang="en-US" sz="225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分</a:t>
            </a:r>
            <a:endParaRPr lang="en-US" sz="2250" dirty="0"/>
          </a:p>
        </p:txBody>
      </p:sp>
      <p:sp>
        <p:nvSpPr>
          <p:cNvPr id="34" name="Shape 32"/>
          <p:cNvSpPr/>
          <p:nvPr/>
        </p:nvSpPr>
        <p:spPr>
          <a:xfrm>
            <a:off x="990600" y="5331023"/>
            <a:ext cx="4239667" cy="9525"/>
          </a:xfrm>
          <a:prstGeom prst="rect">
            <a:avLst/>
          </a:prstGeom>
          <a:solidFill>
            <a:srgbClr val="D6EBFF"/>
          </a:solidFill>
          <a:ln/>
        </p:spPr>
      </p:sp>
      <p:sp>
        <p:nvSpPr>
          <p:cNvPr id="35" name="Text 33"/>
          <p:cNvSpPr/>
          <p:nvPr/>
        </p:nvSpPr>
        <p:spPr>
          <a:xfrm>
            <a:off x="990600" y="4802386"/>
            <a:ext cx="4366857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2250" dirty="0">
                <a:solidFill>
                  <a:srgbClr val="9898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休息</a:t>
            </a:r>
            <a:endParaRPr lang="en-US" sz="2250" dirty="0"/>
          </a:p>
        </p:txBody>
      </p:sp>
      <p:sp>
        <p:nvSpPr>
          <p:cNvPr id="36" name="Shape 34"/>
          <p:cNvSpPr/>
          <p:nvPr/>
        </p:nvSpPr>
        <p:spPr>
          <a:xfrm>
            <a:off x="5230267" y="5331023"/>
            <a:ext cx="10110341" cy="9525"/>
          </a:xfrm>
          <a:prstGeom prst="rect">
            <a:avLst/>
          </a:prstGeom>
          <a:solidFill>
            <a:srgbClr val="D6EBFF"/>
          </a:solidFill>
          <a:ln/>
        </p:spPr>
      </p:sp>
      <p:sp>
        <p:nvSpPr>
          <p:cNvPr id="37" name="Text 35"/>
          <p:cNvSpPr/>
          <p:nvPr/>
        </p:nvSpPr>
        <p:spPr>
          <a:xfrm>
            <a:off x="5230267" y="4802386"/>
            <a:ext cx="10413651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625"/>
              </a:lnSpc>
              <a:buNone/>
            </a:pPr>
            <a:r>
              <a:rPr lang="en-US" sz="2100" dirty="0">
                <a:solidFill>
                  <a:srgbClr val="9898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100" dirty="0"/>
          </a:p>
        </p:txBody>
      </p:sp>
      <p:sp>
        <p:nvSpPr>
          <p:cNvPr id="38" name="Shape 36"/>
          <p:cNvSpPr/>
          <p:nvPr/>
        </p:nvSpPr>
        <p:spPr>
          <a:xfrm>
            <a:off x="15340608" y="5331023"/>
            <a:ext cx="1956792" cy="9525"/>
          </a:xfrm>
          <a:prstGeom prst="rect">
            <a:avLst/>
          </a:prstGeom>
          <a:solidFill>
            <a:srgbClr val="D6EBFF"/>
          </a:solidFill>
          <a:ln/>
        </p:spPr>
      </p:sp>
      <p:sp>
        <p:nvSpPr>
          <p:cNvPr id="39" name="Text 37"/>
          <p:cNvSpPr/>
          <p:nvPr/>
        </p:nvSpPr>
        <p:spPr>
          <a:xfrm>
            <a:off x="15264408" y="4802386"/>
            <a:ext cx="2032992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36765"/>
              </a:lnSpc>
              <a:buNone/>
            </a:pPr>
            <a:r>
              <a:rPr lang="en-US" sz="2250" dirty="0">
                <a:solidFill>
                  <a:srgbClr val="9898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分</a:t>
            </a:r>
            <a:endParaRPr lang="en-US" sz="2250" dirty="0"/>
          </a:p>
        </p:txBody>
      </p:sp>
      <p:sp>
        <p:nvSpPr>
          <p:cNvPr id="40" name="Shape 38"/>
          <p:cNvSpPr/>
          <p:nvPr/>
        </p:nvSpPr>
        <p:spPr>
          <a:xfrm>
            <a:off x="990600" y="5954911"/>
            <a:ext cx="4239667" cy="9525"/>
          </a:xfrm>
          <a:prstGeom prst="rect">
            <a:avLst/>
          </a:prstGeom>
          <a:solidFill>
            <a:srgbClr val="D6EBFF"/>
          </a:solidFill>
          <a:ln/>
        </p:spPr>
      </p:sp>
      <p:sp>
        <p:nvSpPr>
          <p:cNvPr id="41" name="Text 39"/>
          <p:cNvSpPr/>
          <p:nvPr/>
        </p:nvSpPr>
        <p:spPr>
          <a:xfrm>
            <a:off x="990600" y="5426273"/>
            <a:ext cx="4366857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2250" dirty="0">
                <a:solidFill>
                  <a:srgbClr val="2C45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蒐集發想</a:t>
            </a:r>
            <a:endParaRPr lang="en-US" sz="2250" dirty="0"/>
          </a:p>
        </p:txBody>
      </p:sp>
      <p:sp>
        <p:nvSpPr>
          <p:cNvPr id="42" name="Shape 40"/>
          <p:cNvSpPr/>
          <p:nvPr/>
        </p:nvSpPr>
        <p:spPr>
          <a:xfrm>
            <a:off x="5230267" y="5954911"/>
            <a:ext cx="10110341" cy="9525"/>
          </a:xfrm>
          <a:prstGeom prst="rect">
            <a:avLst/>
          </a:prstGeom>
          <a:solidFill>
            <a:srgbClr val="D6EBFF"/>
          </a:solidFill>
          <a:ln/>
        </p:spPr>
      </p:sp>
      <p:sp>
        <p:nvSpPr>
          <p:cNvPr id="43" name="Text 41"/>
          <p:cNvSpPr/>
          <p:nvPr/>
        </p:nvSpPr>
        <p:spPr>
          <a:xfrm>
            <a:off x="5230267" y="5426273"/>
            <a:ext cx="10413651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625"/>
              </a:lnSpc>
              <a:buNone/>
            </a:pPr>
            <a:r>
              <a:rPr lang="en-US" sz="2100" dirty="0">
                <a:solidFill>
                  <a:srgbClr val="5D5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從生活與工作問題選定專題</a:t>
            </a:r>
            <a:endParaRPr lang="en-US" sz="2100" dirty="0"/>
          </a:p>
        </p:txBody>
      </p:sp>
      <p:sp>
        <p:nvSpPr>
          <p:cNvPr id="44" name="Shape 42"/>
          <p:cNvSpPr/>
          <p:nvPr/>
        </p:nvSpPr>
        <p:spPr>
          <a:xfrm>
            <a:off x="15340608" y="5954911"/>
            <a:ext cx="1956792" cy="9525"/>
          </a:xfrm>
          <a:prstGeom prst="rect">
            <a:avLst/>
          </a:prstGeom>
          <a:solidFill>
            <a:srgbClr val="D6EBFF"/>
          </a:solidFill>
          <a:ln/>
        </p:spPr>
      </p:sp>
      <p:sp>
        <p:nvSpPr>
          <p:cNvPr id="45" name="Text 43"/>
          <p:cNvSpPr/>
          <p:nvPr/>
        </p:nvSpPr>
        <p:spPr>
          <a:xfrm>
            <a:off x="15264408" y="5426273"/>
            <a:ext cx="2032992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36765"/>
              </a:lnSpc>
              <a:buNone/>
            </a:pPr>
            <a:r>
              <a:rPr lang="en-US" sz="225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分</a:t>
            </a:r>
            <a:endParaRPr lang="en-US" sz="2250" dirty="0"/>
          </a:p>
        </p:txBody>
      </p:sp>
      <p:sp>
        <p:nvSpPr>
          <p:cNvPr id="46" name="Shape 44"/>
          <p:cNvSpPr/>
          <p:nvPr/>
        </p:nvSpPr>
        <p:spPr>
          <a:xfrm>
            <a:off x="990600" y="6578798"/>
            <a:ext cx="4239667" cy="9525"/>
          </a:xfrm>
          <a:prstGeom prst="rect">
            <a:avLst/>
          </a:prstGeom>
          <a:solidFill>
            <a:srgbClr val="D6EBFF"/>
          </a:solidFill>
          <a:ln/>
        </p:spPr>
      </p:sp>
      <p:sp>
        <p:nvSpPr>
          <p:cNvPr id="47" name="Text 45"/>
          <p:cNvSpPr/>
          <p:nvPr/>
        </p:nvSpPr>
        <p:spPr>
          <a:xfrm>
            <a:off x="990600" y="6050161"/>
            <a:ext cx="4366857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2250" dirty="0">
                <a:solidFill>
                  <a:srgbClr val="2C45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定義目標</a:t>
            </a:r>
            <a:endParaRPr lang="en-US" sz="2250" dirty="0"/>
          </a:p>
        </p:txBody>
      </p:sp>
      <p:sp>
        <p:nvSpPr>
          <p:cNvPr id="48" name="Shape 46"/>
          <p:cNvSpPr/>
          <p:nvPr/>
        </p:nvSpPr>
        <p:spPr>
          <a:xfrm>
            <a:off x="5230267" y="6578798"/>
            <a:ext cx="10110341" cy="9525"/>
          </a:xfrm>
          <a:prstGeom prst="rect">
            <a:avLst/>
          </a:prstGeom>
          <a:solidFill>
            <a:srgbClr val="D6EBFF"/>
          </a:solidFill>
          <a:ln/>
        </p:spPr>
      </p:sp>
      <p:sp>
        <p:nvSpPr>
          <p:cNvPr id="49" name="Text 47"/>
          <p:cNvSpPr/>
          <p:nvPr/>
        </p:nvSpPr>
        <p:spPr>
          <a:xfrm>
            <a:off x="5230267" y="6050161"/>
            <a:ext cx="10413651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625"/>
              </a:lnSpc>
              <a:buNone/>
            </a:pPr>
            <a:r>
              <a:rPr lang="en-US" sz="2100" dirty="0">
                <a:solidFill>
                  <a:srgbClr val="5D5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專題簡述、最小範圍與驗收條件</a:t>
            </a:r>
            <a:endParaRPr lang="en-US" sz="2100" dirty="0"/>
          </a:p>
        </p:txBody>
      </p:sp>
      <p:sp>
        <p:nvSpPr>
          <p:cNvPr id="50" name="Shape 48"/>
          <p:cNvSpPr/>
          <p:nvPr/>
        </p:nvSpPr>
        <p:spPr>
          <a:xfrm>
            <a:off x="15340608" y="6578798"/>
            <a:ext cx="1956792" cy="9525"/>
          </a:xfrm>
          <a:prstGeom prst="rect">
            <a:avLst/>
          </a:prstGeom>
          <a:solidFill>
            <a:srgbClr val="D6EBFF"/>
          </a:solidFill>
          <a:ln/>
        </p:spPr>
      </p:sp>
      <p:sp>
        <p:nvSpPr>
          <p:cNvPr id="51" name="Text 49"/>
          <p:cNvSpPr/>
          <p:nvPr/>
        </p:nvSpPr>
        <p:spPr>
          <a:xfrm>
            <a:off x="15264408" y="6050161"/>
            <a:ext cx="2032992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36765"/>
              </a:lnSpc>
              <a:buNone/>
            </a:pPr>
            <a:r>
              <a:rPr lang="en-US" sz="225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分</a:t>
            </a:r>
            <a:endParaRPr lang="en-US" sz="2250" dirty="0"/>
          </a:p>
        </p:txBody>
      </p:sp>
      <p:sp>
        <p:nvSpPr>
          <p:cNvPr id="52" name="Shape 50"/>
          <p:cNvSpPr/>
          <p:nvPr/>
        </p:nvSpPr>
        <p:spPr>
          <a:xfrm>
            <a:off x="990600" y="7202686"/>
            <a:ext cx="4239667" cy="9525"/>
          </a:xfrm>
          <a:prstGeom prst="rect">
            <a:avLst/>
          </a:prstGeom>
          <a:solidFill>
            <a:srgbClr val="D6EBFF"/>
          </a:solidFill>
          <a:ln/>
        </p:spPr>
      </p:sp>
      <p:sp>
        <p:nvSpPr>
          <p:cNvPr id="53" name="Text 51"/>
          <p:cNvSpPr/>
          <p:nvPr/>
        </p:nvSpPr>
        <p:spPr>
          <a:xfrm>
            <a:off x="990600" y="6674048"/>
            <a:ext cx="4366857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2250" dirty="0">
                <a:solidFill>
                  <a:srgbClr val="2C45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拆解計畫</a:t>
            </a:r>
            <a:endParaRPr lang="en-US" sz="2250" dirty="0"/>
          </a:p>
        </p:txBody>
      </p:sp>
      <p:sp>
        <p:nvSpPr>
          <p:cNvPr id="54" name="Shape 52"/>
          <p:cNvSpPr/>
          <p:nvPr/>
        </p:nvSpPr>
        <p:spPr>
          <a:xfrm>
            <a:off x="5230267" y="7202686"/>
            <a:ext cx="10110341" cy="9525"/>
          </a:xfrm>
          <a:prstGeom prst="rect">
            <a:avLst/>
          </a:prstGeom>
          <a:solidFill>
            <a:srgbClr val="D6EBFF"/>
          </a:solidFill>
          <a:ln/>
        </p:spPr>
      </p:sp>
      <p:sp>
        <p:nvSpPr>
          <p:cNvPr id="55" name="Text 53"/>
          <p:cNvSpPr/>
          <p:nvPr/>
        </p:nvSpPr>
        <p:spPr>
          <a:xfrm>
            <a:off x="5230267" y="6674048"/>
            <a:ext cx="10413651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625"/>
              </a:lnSpc>
              <a:buNone/>
            </a:pPr>
            <a:r>
              <a:rPr lang="en-US" sz="2100" dirty="0">
                <a:solidFill>
                  <a:srgbClr val="5D5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2–4 個步驟</a:t>
            </a:r>
            <a:endParaRPr lang="en-US" sz="2100" dirty="0"/>
          </a:p>
        </p:txBody>
      </p:sp>
      <p:sp>
        <p:nvSpPr>
          <p:cNvPr id="56" name="Shape 54"/>
          <p:cNvSpPr/>
          <p:nvPr/>
        </p:nvSpPr>
        <p:spPr>
          <a:xfrm>
            <a:off x="15340608" y="7202686"/>
            <a:ext cx="1956792" cy="9525"/>
          </a:xfrm>
          <a:prstGeom prst="rect">
            <a:avLst/>
          </a:prstGeom>
          <a:solidFill>
            <a:srgbClr val="D6EBFF"/>
          </a:solidFill>
          <a:ln/>
        </p:spPr>
      </p:sp>
      <p:sp>
        <p:nvSpPr>
          <p:cNvPr id="57" name="Text 55"/>
          <p:cNvSpPr/>
          <p:nvPr/>
        </p:nvSpPr>
        <p:spPr>
          <a:xfrm>
            <a:off x="15264408" y="6674048"/>
            <a:ext cx="2032992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36765"/>
              </a:lnSpc>
              <a:buNone/>
            </a:pPr>
            <a:r>
              <a:rPr lang="en-US" sz="225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分</a:t>
            </a:r>
            <a:endParaRPr lang="en-US" sz="2250" dirty="0"/>
          </a:p>
        </p:txBody>
      </p:sp>
      <p:sp>
        <p:nvSpPr>
          <p:cNvPr id="58" name="Shape 56"/>
          <p:cNvSpPr/>
          <p:nvPr/>
        </p:nvSpPr>
        <p:spPr>
          <a:xfrm>
            <a:off x="990600" y="7826573"/>
            <a:ext cx="4239667" cy="9525"/>
          </a:xfrm>
          <a:prstGeom prst="rect">
            <a:avLst/>
          </a:prstGeom>
          <a:solidFill>
            <a:srgbClr val="D6EBFF"/>
          </a:solidFill>
          <a:ln/>
        </p:spPr>
      </p:sp>
      <p:sp>
        <p:nvSpPr>
          <p:cNvPr id="59" name="Text 57"/>
          <p:cNvSpPr/>
          <p:nvPr/>
        </p:nvSpPr>
        <p:spPr>
          <a:xfrm>
            <a:off x="990600" y="7297936"/>
            <a:ext cx="4366857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2250" dirty="0">
                <a:solidFill>
                  <a:srgbClr val="2C45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實作第一輪</a:t>
            </a:r>
            <a:endParaRPr lang="en-US" sz="2250" dirty="0"/>
          </a:p>
        </p:txBody>
      </p:sp>
      <p:sp>
        <p:nvSpPr>
          <p:cNvPr id="60" name="Shape 58"/>
          <p:cNvSpPr/>
          <p:nvPr/>
        </p:nvSpPr>
        <p:spPr>
          <a:xfrm>
            <a:off x="5230267" y="7826573"/>
            <a:ext cx="10110341" cy="9525"/>
          </a:xfrm>
          <a:prstGeom prst="rect">
            <a:avLst/>
          </a:prstGeom>
          <a:solidFill>
            <a:srgbClr val="D6EBFF"/>
          </a:solidFill>
          <a:ln/>
        </p:spPr>
      </p:sp>
      <p:sp>
        <p:nvSpPr>
          <p:cNvPr id="61" name="Text 59"/>
          <p:cNvSpPr/>
          <p:nvPr/>
        </p:nvSpPr>
        <p:spPr>
          <a:xfrm>
            <a:off x="5230267" y="7297936"/>
            <a:ext cx="10413651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625"/>
              </a:lnSpc>
              <a:buNone/>
            </a:pPr>
            <a:r>
              <a:rPr lang="en-US" sz="2100" dirty="0">
                <a:solidFill>
                  <a:srgbClr val="5D5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完成核心流程並上傳 GitHub</a:t>
            </a:r>
            <a:endParaRPr lang="en-US" sz="2100" dirty="0"/>
          </a:p>
        </p:txBody>
      </p:sp>
      <p:sp>
        <p:nvSpPr>
          <p:cNvPr id="62" name="Shape 60"/>
          <p:cNvSpPr/>
          <p:nvPr/>
        </p:nvSpPr>
        <p:spPr>
          <a:xfrm>
            <a:off x="15340608" y="7826573"/>
            <a:ext cx="1956792" cy="9525"/>
          </a:xfrm>
          <a:prstGeom prst="rect">
            <a:avLst/>
          </a:prstGeom>
          <a:solidFill>
            <a:srgbClr val="D6EBFF"/>
          </a:solidFill>
          <a:ln/>
        </p:spPr>
      </p:sp>
      <p:sp>
        <p:nvSpPr>
          <p:cNvPr id="63" name="Text 61"/>
          <p:cNvSpPr/>
          <p:nvPr/>
        </p:nvSpPr>
        <p:spPr>
          <a:xfrm>
            <a:off x="15264408" y="7297936"/>
            <a:ext cx="2032992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36765"/>
              </a:lnSpc>
              <a:buNone/>
            </a:pPr>
            <a:r>
              <a:rPr lang="en-US" sz="225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分</a:t>
            </a:r>
            <a:endParaRPr lang="en-US" sz="2250" dirty="0"/>
          </a:p>
        </p:txBody>
      </p:sp>
      <p:sp>
        <p:nvSpPr>
          <p:cNvPr id="64" name="Shape 62"/>
          <p:cNvSpPr/>
          <p:nvPr/>
        </p:nvSpPr>
        <p:spPr>
          <a:xfrm>
            <a:off x="990600" y="8450461"/>
            <a:ext cx="4239667" cy="9525"/>
          </a:xfrm>
          <a:prstGeom prst="rect">
            <a:avLst/>
          </a:prstGeom>
          <a:solidFill>
            <a:srgbClr val="D6EBFF"/>
          </a:solidFill>
          <a:ln/>
        </p:spPr>
      </p:sp>
      <p:sp>
        <p:nvSpPr>
          <p:cNvPr id="65" name="Text 63"/>
          <p:cNvSpPr/>
          <p:nvPr/>
        </p:nvSpPr>
        <p:spPr>
          <a:xfrm>
            <a:off x="990600" y="7921823"/>
            <a:ext cx="4366857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2250" dirty="0">
                <a:solidFill>
                  <a:srgbClr val="2C45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實作第二輪</a:t>
            </a:r>
            <a:endParaRPr lang="en-US" sz="2250" dirty="0"/>
          </a:p>
        </p:txBody>
      </p:sp>
      <p:sp>
        <p:nvSpPr>
          <p:cNvPr id="66" name="Shape 64"/>
          <p:cNvSpPr/>
          <p:nvPr/>
        </p:nvSpPr>
        <p:spPr>
          <a:xfrm>
            <a:off x="5230267" y="8450461"/>
            <a:ext cx="10110341" cy="9525"/>
          </a:xfrm>
          <a:prstGeom prst="rect">
            <a:avLst/>
          </a:prstGeom>
          <a:solidFill>
            <a:srgbClr val="D6EBFF"/>
          </a:solidFill>
          <a:ln/>
        </p:spPr>
      </p:sp>
      <p:sp>
        <p:nvSpPr>
          <p:cNvPr id="67" name="Text 65"/>
          <p:cNvSpPr/>
          <p:nvPr/>
        </p:nvSpPr>
        <p:spPr>
          <a:xfrm>
            <a:off x="5230267" y="7921823"/>
            <a:ext cx="10413651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625"/>
              </a:lnSpc>
              <a:buNone/>
            </a:pPr>
            <a:r>
              <a:rPr lang="en-US" sz="2100" dirty="0">
                <a:solidFill>
                  <a:srgbClr val="5D5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更新版本並重新驗證</a:t>
            </a:r>
            <a:endParaRPr lang="en-US" sz="2100" dirty="0"/>
          </a:p>
        </p:txBody>
      </p:sp>
      <p:sp>
        <p:nvSpPr>
          <p:cNvPr id="68" name="Shape 66"/>
          <p:cNvSpPr/>
          <p:nvPr/>
        </p:nvSpPr>
        <p:spPr>
          <a:xfrm>
            <a:off x="15340608" y="8450461"/>
            <a:ext cx="1956792" cy="9525"/>
          </a:xfrm>
          <a:prstGeom prst="rect">
            <a:avLst/>
          </a:prstGeom>
          <a:solidFill>
            <a:srgbClr val="D6EBFF"/>
          </a:solidFill>
          <a:ln/>
        </p:spPr>
      </p:sp>
      <p:sp>
        <p:nvSpPr>
          <p:cNvPr id="69" name="Text 67"/>
          <p:cNvSpPr/>
          <p:nvPr/>
        </p:nvSpPr>
        <p:spPr>
          <a:xfrm>
            <a:off x="15264408" y="7921823"/>
            <a:ext cx="2032992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36765"/>
              </a:lnSpc>
              <a:buNone/>
            </a:pPr>
            <a:r>
              <a:rPr lang="en-US" sz="225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分</a:t>
            </a:r>
            <a:endParaRPr lang="en-US" sz="2250" dirty="0"/>
          </a:p>
        </p:txBody>
      </p:sp>
      <p:sp>
        <p:nvSpPr>
          <p:cNvPr id="70" name="Text 68"/>
          <p:cNvSpPr/>
          <p:nvPr/>
        </p:nvSpPr>
        <p:spPr>
          <a:xfrm>
            <a:off x="990600" y="8545711"/>
            <a:ext cx="4366857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2250" dirty="0">
                <a:solidFill>
                  <a:srgbClr val="2C45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展示與回顧</a:t>
            </a:r>
            <a:endParaRPr lang="en-US" sz="2250" dirty="0"/>
          </a:p>
        </p:txBody>
      </p:sp>
      <p:sp>
        <p:nvSpPr>
          <p:cNvPr id="71" name="Text 69"/>
          <p:cNvSpPr/>
          <p:nvPr/>
        </p:nvSpPr>
        <p:spPr>
          <a:xfrm>
            <a:off x="5230267" y="8545711"/>
            <a:ext cx="10413651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625"/>
              </a:lnSpc>
              <a:buNone/>
            </a:pPr>
            <a:r>
              <a:rPr lang="en-US" sz="2100" dirty="0">
                <a:solidFill>
                  <a:srgbClr val="5D5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成果與下一步</a:t>
            </a:r>
            <a:endParaRPr lang="en-US" sz="2100" dirty="0"/>
          </a:p>
        </p:txBody>
      </p:sp>
      <p:sp>
        <p:nvSpPr>
          <p:cNvPr id="72" name="Text 70"/>
          <p:cNvSpPr/>
          <p:nvPr/>
        </p:nvSpPr>
        <p:spPr>
          <a:xfrm>
            <a:off x="15264408" y="8545711"/>
            <a:ext cx="2032992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36765"/>
              </a:lnSpc>
              <a:buNone/>
            </a:pPr>
            <a:r>
              <a:rPr lang="en-US" sz="225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分</a:t>
            </a:r>
            <a:endParaRPr lang="en-US" sz="2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D2D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2899470"/>
            <a:ext cx="17937480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957"/>
              </a:lnSpc>
              <a:buNone/>
            </a:pPr>
            <a:r>
              <a:rPr lang="en-US" sz="13500" dirty="0">
                <a:solidFill>
                  <a:srgbClr val="94BC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500" dirty="0"/>
          </a:p>
        </p:txBody>
      </p:sp>
      <p:sp>
        <p:nvSpPr>
          <p:cNvPr id="3" name="Text 1"/>
          <p:cNvSpPr/>
          <p:nvPr/>
        </p:nvSpPr>
        <p:spPr>
          <a:xfrm>
            <a:off x="990600" y="4918770"/>
            <a:ext cx="17937480" cy="11276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134"/>
              </a:lnSpc>
              <a:buNone/>
            </a:pPr>
            <a:r>
              <a:rPr lang="en-US" sz="7800" b="1" spc="-117" kern="0" dirty="0">
                <a:solidFill>
                  <a:srgbClr val="F2F2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教材與交付</a:t>
            </a:r>
            <a:endParaRPr lang="en-US" sz="7800" dirty="0"/>
          </a:p>
        </p:txBody>
      </p:sp>
      <p:sp>
        <p:nvSpPr>
          <p:cNvPr id="4" name="Text 2"/>
          <p:cNvSpPr/>
          <p:nvPr/>
        </p:nvSpPr>
        <p:spPr>
          <a:xfrm>
            <a:off x="990600" y="6313140"/>
            <a:ext cx="8669331" cy="1264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259"/>
              </a:lnSpc>
              <a:buNone/>
            </a:pPr>
            <a:r>
              <a:rPr lang="en-US" sz="3450" dirty="0">
                <a:solidFill>
                  <a:srgbClr val="B5D9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同一套內容分布在四個介面：投影片、手冊、隨堂網站、講師文件。</a:t>
            </a:r>
            <a:endParaRPr lang="en-US" sz="34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2F2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914400"/>
            <a:ext cx="1793748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1800" spc="252" kern="0" dirty="0">
                <a:solidFill>
                  <a:srgbClr val="4161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REPOSITORY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600" y="1440061"/>
            <a:ext cx="17937480" cy="7764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385"/>
              </a:lnSpc>
              <a:buNone/>
            </a:pPr>
            <a:r>
              <a:rPr lang="en-US" sz="5100" b="1" spc="-76" kern="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資料夾與版本</a:t>
            </a:r>
            <a:endParaRPr lang="en-US" sz="5100" dirty="0"/>
          </a:p>
        </p:txBody>
      </p:sp>
      <p:sp>
        <p:nvSpPr>
          <p:cNvPr id="4" name="Shape 2"/>
          <p:cNvSpPr/>
          <p:nvPr/>
        </p:nvSpPr>
        <p:spPr>
          <a:xfrm>
            <a:off x="990600" y="3213646"/>
            <a:ext cx="3913584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90600" y="2730847"/>
            <a:ext cx="3802392" cy="3875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1800" spc="180" kern="0" dirty="0">
                <a:solidFill>
                  <a:srgbClr val="7A7A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資料夾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904184" y="3213646"/>
            <a:ext cx="1956792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904184" y="2730847"/>
            <a:ext cx="1804392" cy="3875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1800" spc="180" kern="0" dirty="0">
                <a:solidFill>
                  <a:srgbClr val="7A7A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版本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860977" y="3213646"/>
            <a:ext cx="10436423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860977" y="2730847"/>
            <a:ext cx="10749516" cy="3875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1800" spc="180" kern="0" dirty="0">
                <a:solidFill>
                  <a:srgbClr val="7A7A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內容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90600" y="4017466"/>
            <a:ext cx="3913584" cy="9525"/>
          </a:xfrm>
          <a:prstGeom prst="rect">
            <a:avLst/>
          </a:prstGeom>
          <a:solidFill>
            <a:srgbClr val="D6EBFF"/>
          </a:solidFill>
          <a:ln/>
        </p:spPr>
      </p:sp>
      <p:sp>
        <p:nvSpPr>
          <p:cNvPr id="11" name="Text 9"/>
          <p:cNvSpPr/>
          <p:nvPr/>
        </p:nvSpPr>
        <p:spPr>
          <a:xfrm>
            <a:off x="990600" y="3413671"/>
            <a:ext cx="3802392" cy="4513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2C45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slides/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4904184" y="4017466"/>
            <a:ext cx="1956792" cy="9525"/>
          </a:xfrm>
          <a:prstGeom prst="rect">
            <a:avLst/>
          </a:prstGeom>
          <a:solidFill>
            <a:srgbClr val="D6EBFF"/>
          </a:solidFill>
          <a:ln/>
        </p:spPr>
      </p:sp>
      <p:sp>
        <p:nvSpPr>
          <p:cNvPr id="13" name="Text 11"/>
          <p:cNvSpPr/>
          <p:nvPr/>
        </p:nvSpPr>
        <p:spPr>
          <a:xfrm>
            <a:off x="4904184" y="3413671"/>
            <a:ext cx="1804392" cy="4513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625"/>
              </a:lnSpc>
              <a:buNone/>
            </a:pPr>
            <a:r>
              <a:rPr lang="en-US" sz="2100" dirty="0">
                <a:solidFill>
                  <a:srgbClr val="5D5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付費版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6860977" y="4017466"/>
            <a:ext cx="10436423" cy="9525"/>
          </a:xfrm>
          <a:prstGeom prst="rect">
            <a:avLst/>
          </a:prstGeom>
          <a:solidFill>
            <a:srgbClr val="D6EBFF"/>
          </a:solidFill>
          <a:ln/>
        </p:spPr>
      </p:sp>
      <p:sp>
        <p:nvSpPr>
          <p:cNvPr id="15" name="Text 13"/>
          <p:cNvSpPr/>
          <p:nvPr/>
        </p:nvSpPr>
        <p:spPr>
          <a:xfrm>
            <a:off x="6860977" y="3413671"/>
            <a:ext cx="10749516" cy="4513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625"/>
              </a:lnSpc>
              <a:buNone/>
            </a:pPr>
            <a:r>
              <a:rPr lang="en-US" sz="21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Marp 投影片，77 頁（免費版 78 頁）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990600" y="4821287"/>
            <a:ext cx="3913584" cy="9525"/>
          </a:xfrm>
          <a:prstGeom prst="rect">
            <a:avLst/>
          </a:prstGeom>
          <a:solidFill>
            <a:srgbClr val="D6EBFF"/>
          </a:solidFill>
          <a:ln/>
        </p:spPr>
      </p:sp>
      <p:sp>
        <p:nvSpPr>
          <p:cNvPr id="17" name="Text 15"/>
          <p:cNvSpPr/>
          <p:nvPr/>
        </p:nvSpPr>
        <p:spPr>
          <a:xfrm>
            <a:off x="990600" y="4217491"/>
            <a:ext cx="3802392" cy="4513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2C45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workbook/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4904184" y="4821287"/>
            <a:ext cx="1956792" cy="9525"/>
          </a:xfrm>
          <a:prstGeom prst="rect">
            <a:avLst/>
          </a:prstGeom>
          <a:solidFill>
            <a:srgbClr val="D6EBFF"/>
          </a:solidFill>
          <a:ln/>
        </p:spPr>
      </p:sp>
      <p:sp>
        <p:nvSpPr>
          <p:cNvPr id="19" name="Text 17"/>
          <p:cNvSpPr/>
          <p:nvPr/>
        </p:nvSpPr>
        <p:spPr>
          <a:xfrm>
            <a:off x="4904184" y="4217491"/>
            <a:ext cx="1804392" cy="4513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625"/>
              </a:lnSpc>
              <a:buNone/>
            </a:pPr>
            <a:r>
              <a:rPr lang="en-US" sz="2100" dirty="0">
                <a:solidFill>
                  <a:srgbClr val="5D5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付費版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6860977" y="4821287"/>
            <a:ext cx="10436423" cy="9525"/>
          </a:xfrm>
          <a:prstGeom prst="rect">
            <a:avLst/>
          </a:prstGeom>
          <a:solidFill>
            <a:srgbClr val="D6EBFF"/>
          </a:solidFill>
          <a:ln/>
        </p:spPr>
      </p:sp>
      <p:sp>
        <p:nvSpPr>
          <p:cNvPr id="21" name="Text 19"/>
          <p:cNvSpPr/>
          <p:nvPr/>
        </p:nvSpPr>
        <p:spPr>
          <a:xfrm>
            <a:off x="6860977" y="4217491"/>
            <a:ext cx="10749516" cy="4513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625"/>
              </a:lnSpc>
              <a:buNone/>
            </a:pPr>
            <a:r>
              <a:rPr lang="en-US" sz="21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共同練習、發想、規劃、實作手冊 + 重點整理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990600" y="5625108"/>
            <a:ext cx="3913584" cy="9525"/>
          </a:xfrm>
          <a:prstGeom prst="rect">
            <a:avLst/>
          </a:prstGeom>
          <a:solidFill>
            <a:srgbClr val="D6EBFF"/>
          </a:solidFill>
          <a:ln/>
        </p:spPr>
      </p:sp>
      <p:sp>
        <p:nvSpPr>
          <p:cNvPr id="23" name="Text 21"/>
          <p:cNvSpPr/>
          <p:nvPr/>
        </p:nvSpPr>
        <p:spPr>
          <a:xfrm>
            <a:off x="990600" y="5021312"/>
            <a:ext cx="3802392" cy="4513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2C45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site/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4904184" y="5625108"/>
            <a:ext cx="1956792" cy="9525"/>
          </a:xfrm>
          <a:prstGeom prst="rect">
            <a:avLst/>
          </a:prstGeom>
          <a:solidFill>
            <a:srgbClr val="D6EBFF"/>
          </a:solidFill>
          <a:ln/>
        </p:spPr>
      </p:sp>
      <p:sp>
        <p:nvSpPr>
          <p:cNvPr id="25" name="Text 23"/>
          <p:cNvSpPr/>
          <p:nvPr/>
        </p:nvSpPr>
        <p:spPr>
          <a:xfrm>
            <a:off x="4904184" y="5021312"/>
            <a:ext cx="1804392" cy="4513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625"/>
              </a:lnSpc>
              <a:buNone/>
            </a:pPr>
            <a:r>
              <a:rPr lang="en-US" sz="2100" dirty="0">
                <a:solidFill>
                  <a:srgbClr val="5D5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付費版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6860977" y="5625108"/>
            <a:ext cx="10436423" cy="9525"/>
          </a:xfrm>
          <a:prstGeom prst="rect">
            <a:avLst/>
          </a:prstGeom>
          <a:solidFill>
            <a:srgbClr val="D6EBFF"/>
          </a:solidFill>
          <a:ln/>
        </p:spPr>
      </p:sp>
      <p:sp>
        <p:nvSpPr>
          <p:cNvPr id="27" name="Text 25"/>
          <p:cNvSpPr/>
          <p:nvPr/>
        </p:nvSpPr>
        <p:spPr>
          <a:xfrm>
            <a:off x="6860977" y="5021312"/>
            <a:ext cx="10749516" cy="4513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625"/>
              </a:lnSpc>
              <a:buNone/>
            </a:pPr>
            <a:r>
              <a:rPr lang="en-US" sz="21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隨堂網站與課前準備網頁原始檔</a:t>
            </a:r>
            <a:endParaRPr lang="en-US" sz="2100" dirty="0"/>
          </a:p>
        </p:txBody>
      </p:sp>
      <p:sp>
        <p:nvSpPr>
          <p:cNvPr id="28" name="Shape 26"/>
          <p:cNvSpPr/>
          <p:nvPr/>
        </p:nvSpPr>
        <p:spPr>
          <a:xfrm>
            <a:off x="990600" y="6428929"/>
            <a:ext cx="3913584" cy="9525"/>
          </a:xfrm>
          <a:prstGeom prst="rect">
            <a:avLst/>
          </a:prstGeom>
          <a:solidFill>
            <a:srgbClr val="D6EBFF"/>
          </a:solidFill>
          <a:ln/>
        </p:spPr>
      </p:sp>
      <p:sp>
        <p:nvSpPr>
          <p:cNvPr id="29" name="Text 27"/>
          <p:cNvSpPr/>
          <p:nvPr/>
        </p:nvSpPr>
        <p:spPr>
          <a:xfrm>
            <a:off x="990600" y="5825133"/>
            <a:ext cx="3802392" cy="4513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2C45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instructor/</a:t>
            </a:r>
            <a:endParaRPr lang="en-US" sz="2100" dirty="0"/>
          </a:p>
        </p:txBody>
      </p:sp>
      <p:sp>
        <p:nvSpPr>
          <p:cNvPr id="30" name="Shape 28"/>
          <p:cNvSpPr/>
          <p:nvPr/>
        </p:nvSpPr>
        <p:spPr>
          <a:xfrm>
            <a:off x="4904184" y="6428929"/>
            <a:ext cx="1956792" cy="9525"/>
          </a:xfrm>
          <a:prstGeom prst="rect">
            <a:avLst/>
          </a:prstGeom>
          <a:solidFill>
            <a:srgbClr val="D6EBFF"/>
          </a:solidFill>
          <a:ln/>
        </p:spPr>
      </p:sp>
      <p:sp>
        <p:nvSpPr>
          <p:cNvPr id="31" name="Text 29"/>
          <p:cNvSpPr/>
          <p:nvPr/>
        </p:nvSpPr>
        <p:spPr>
          <a:xfrm>
            <a:off x="4904184" y="5825133"/>
            <a:ext cx="1804392" cy="4513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625"/>
              </a:lnSpc>
              <a:buNone/>
            </a:pPr>
            <a:r>
              <a:rPr lang="en-US" sz="2100" dirty="0">
                <a:solidFill>
                  <a:srgbClr val="5D5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付費＋共用</a:t>
            </a:r>
            <a:endParaRPr lang="en-US" sz="2100" dirty="0"/>
          </a:p>
        </p:txBody>
      </p:sp>
      <p:sp>
        <p:nvSpPr>
          <p:cNvPr id="32" name="Shape 30"/>
          <p:cNvSpPr/>
          <p:nvPr/>
        </p:nvSpPr>
        <p:spPr>
          <a:xfrm>
            <a:off x="6860977" y="6428929"/>
            <a:ext cx="10436423" cy="9525"/>
          </a:xfrm>
          <a:prstGeom prst="rect">
            <a:avLst/>
          </a:prstGeom>
          <a:solidFill>
            <a:srgbClr val="D6EBFF"/>
          </a:solidFill>
          <a:ln/>
        </p:spPr>
      </p:sp>
      <p:sp>
        <p:nvSpPr>
          <p:cNvPr id="33" name="Text 31"/>
          <p:cNvSpPr/>
          <p:nvPr/>
        </p:nvSpPr>
        <p:spPr>
          <a:xfrm>
            <a:off x="6860977" y="5825133"/>
            <a:ext cx="10749516" cy="4513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625"/>
              </a:lnSpc>
              <a:buNone/>
            </a:pPr>
            <a:r>
              <a:rPr lang="en-US" sz="21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流程表、講稿、課前通知信、疑難排解；部分共用</a:t>
            </a:r>
            <a:endParaRPr lang="en-US" sz="2100" dirty="0"/>
          </a:p>
        </p:txBody>
      </p:sp>
      <p:sp>
        <p:nvSpPr>
          <p:cNvPr id="34" name="Shape 32"/>
          <p:cNvSpPr/>
          <p:nvPr/>
        </p:nvSpPr>
        <p:spPr>
          <a:xfrm>
            <a:off x="990600" y="7232749"/>
            <a:ext cx="3913584" cy="9525"/>
          </a:xfrm>
          <a:prstGeom prst="rect">
            <a:avLst/>
          </a:prstGeom>
          <a:solidFill>
            <a:srgbClr val="D6EBFF"/>
          </a:solidFill>
          <a:ln/>
        </p:spPr>
      </p:sp>
      <p:sp>
        <p:nvSpPr>
          <p:cNvPr id="35" name="Text 33"/>
          <p:cNvSpPr/>
          <p:nvPr/>
        </p:nvSpPr>
        <p:spPr>
          <a:xfrm>
            <a:off x="990600" y="6628954"/>
            <a:ext cx="3802392" cy="4513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2C45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starter/</a:t>
            </a:r>
            <a:endParaRPr lang="en-US" sz="2100" dirty="0"/>
          </a:p>
        </p:txBody>
      </p:sp>
      <p:sp>
        <p:nvSpPr>
          <p:cNvPr id="36" name="Shape 34"/>
          <p:cNvSpPr/>
          <p:nvPr/>
        </p:nvSpPr>
        <p:spPr>
          <a:xfrm>
            <a:off x="4904184" y="7232749"/>
            <a:ext cx="1956792" cy="9525"/>
          </a:xfrm>
          <a:prstGeom prst="rect">
            <a:avLst/>
          </a:prstGeom>
          <a:solidFill>
            <a:srgbClr val="D6EBFF"/>
          </a:solidFill>
          <a:ln/>
        </p:spPr>
      </p:sp>
      <p:sp>
        <p:nvSpPr>
          <p:cNvPr id="37" name="Text 35"/>
          <p:cNvSpPr/>
          <p:nvPr/>
        </p:nvSpPr>
        <p:spPr>
          <a:xfrm>
            <a:off x="4904184" y="6628954"/>
            <a:ext cx="1804392" cy="4513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625"/>
              </a:lnSpc>
              <a:buNone/>
            </a:pPr>
            <a:r>
              <a:rPr lang="en-US" sz="2100" dirty="0">
                <a:solidFill>
                  <a:srgbClr val="5D5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兩版共用</a:t>
            </a:r>
            <a:endParaRPr lang="en-US" sz="2100" dirty="0"/>
          </a:p>
        </p:txBody>
      </p:sp>
      <p:sp>
        <p:nvSpPr>
          <p:cNvPr id="38" name="Shape 36"/>
          <p:cNvSpPr/>
          <p:nvPr/>
        </p:nvSpPr>
        <p:spPr>
          <a:xfrm>
            <a:off x="6860977" y="7232749"/>
            <a:ext cx="10436423" cy="9525"/>
          </a:xfrm>
          <a:prstGeom prst="rect">
            <a:avLst/>
          </a:prstGeom>
          <a:solidFill>
            <a:srgbClr val="D6EBFF"/>
          </a:solidFill>
          <a:ln/>
        </p:spPr>
      </p:sp>
      <p:sp>
        <p:nvSpPr>
          <p:cNvPr id="39" name="Text 37"/>
          <p:cNvSpPr/>
          <p:nvPr/>
        </p:nvSpPr>
        <p:spPr>
          <a:xfrm>
            <a:off x="6860977" y="6628954"/>
            <a:ext cx="10749516" cy="4513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625"/>
              </a:lnSpc>
              <a:buNone/>
            </a:pPr>
            <a:r>
              <a:rPr lang="en-US" sz="21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學員 repo 的範本（含 CLAUDE.md）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990600" y="7432774"/>
            <a:ext cx="3802392" cy="4561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2C45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variant-free/</a:t>
            </a:r>
            <a:endParaRPr lang="en-US" sz="2100" dirty="0"/>
          </a:p>
        </p:txBody>
      </p:sp>
      <p:sp>
        <p:nvSpPr>
          <p:cNvPr id="41" name="Text 39"/>
          <p:cNvSpPr/>
          <p:nvPr/>
        </p:nvSpPr>
        <p:spPr>
          <a:xfrm>
            <a:off x="4904184" y="7432774"/>
            <a:ext cx="1804392" cy="4561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625"/>
              </a:lnSpc>
              <a:buNone/>
            </a:pPr>
            <a:r>
              <a:rPr lang="en-US" sz="2100" dirty="0">
                <a:solidFill>
                  <a:srgbClr val="5D5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免費版 · 主線</a:t>
            </a:r>
            <a:endParaRPr lang="en-US" sz="2100" dirty="0"/>
          </a:p>
        </p:txBody>
      </p:sp>
      <p:sp>
        <p:nvSpPr>
          <p:cNvPr id="42" name="Text 40"/>
          <p:cNvSpPr/>
          <p:nvPr/>
        </p:nvSpPr>
        <p:spPr>
          <a:xfrm>
            <a:off x="6860977" y="7432774"/>
            <a:ext cx="10749516" cy="4561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625"/>
              </a:lnSpc>
              <a:buNone/>
            </a:pPr>
            <a:r>
              <a:rPr lang="en-US" sz="21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課堂主線。slides/workbook/site/instructor 自成一套</a:t>
            </a:r>
            <a:endParaRPr lang="en-US" sz="2100" dirty="0"/>
          </a:p>
        </p:txBody>
      </p:sp>
      <p:sp>
        <p:nvSpPr>
          <p:cNvPr id="43" name="Shape 32"/>
          <p:cNvSpPr/>
          <p:nvPr/>
        </p:nvSpPr>
        <p:spPr>
          <a:xfrm>
            <a:off x="990600" y="8032849"/>
            <a:ext cx="3913584" cy="9525"/>
          </a:xfrm>
          <a:prstGeom prst="rect">
            <a:avLst/>
          </a:prstGeom>
          <a:solidFill>
            <a:srgbClr val="D6EBFF"/>
          </a:solidFill>
          <a:ln/>
        </p:spPr>
      </p:sp>
      <p:sp>
        <p:nvSpPr>
          <p:cNvPr id="44" name="Shape 34"/>
          <p:cNvSpPr/>
          <p:nvPr/>
        </p:nvSpPr>
        <p:spPr>
          <a:xfrm>
            <a:off x="4904184" y="8032849"/>
            <a:ext cx="1956792" cy="9525"/>
          </a:xfrm>
          <a:prstGeom prst="rect">
            <a:avLst/>
          </a:prstGeom>
          <a:solidFill>
            <a:srgbClr val="D6EBFF"/>
          </a:solidFill>
          <a:ln/>
        </p:spPr>
      </p:sp>
      <p:sp>
        <p:nvSpPr>
          <p:cNvPr id="45" name="Shape 36"/>
          <p:cNvSpPr/>
          <p:nvPr/>
        </p:nvSpPr>
        <p:spPr>
          <a:xfrm>
            <a:off x="6860977" y="8032849"/>
            <a:ext cx="10436423" cy="9525"/>
          </a:xfrm>
          <a:prstGeom prst="rect">
            <a:avLst/>
          </a:prstGeom>
          <a:solidFill>
            <a:srgbClr val="D6EBFF"/>
          </a:solidFill>
          <a:ln/>
        </p:spPr>
      </p:sp>
      <p:sp>
        <p:nvSpPr>
          <p:cNvPr id="46" name="Text 38"/>
          <p:cNvSpPr/>
          <p:nvPr/>
        </p:nvSpPr>
        <p:spPr>
          <a:xfrm>
            <a:off x="990600" y="8232874"/>
            <a:ext cx="3802392" cy="4561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2C45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web/</a:t>
            </a:r>
            <a:endParaRPr lang="en-US" sz="2100" dirty="0"/>
          </a:p>
        </p:txBody>
      </p:sp>
      <p:sp>
        <p:nvSpPr>
          <p:cNvPr id="47" name="Text 39"/>
          <p:cNvSpPr/>
          <p:nvPr/>
        </p:nvSpPr>
        <p:spPr>
          <a:xfrm>
            <a:off x="4904184" y="8232874"/>
            <a:ext cx="1804392" cy="4561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625"/>
              </a:lnSpc>
              <a:buNone/>
            </a:pPr>
            <a:r>
              <a:rPr lang="en-US" sz="2100" dirty="0">
                <a:solidFill>
                  <a:srgbClr val="5D5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兩版共用</a:t>
            </a:r>
            <a:endParaRPr lang="en-US" sz="2100" dirty="0"/>
          </a:p>
        </p:txBody>
      </p:sp>
      <p:sp>
        <p:nvSpPr>
          <p:cNvPr id="48" name="Text 40"/>
          <p:cNvSpPr/>
          <p:nvPr/>
        </p:nvSpPr>
        <p:spPr>
          <a:xfrm>
            <a:off x="6860977" y="8232874"/>
            <a:ext cx="10749516" cy="4561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625"/>
              </a:lnSpc>
              <a:buNone/>
            </a:pPr>
            <a:r>
              <a:rPr lang="en-US" sz="21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專案首頁與種子教師指南（發布至 Pages）</a:t>
            </a:r>
            <a:endParaRPr lang="en-US" sz="2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2F2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914400"/>
            <a:ext cx="1793748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1800" spc="252" kern="0" dirty="0">
                <a:solidFill>
                  <a:srgbClr val="4161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VARIANT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600" y="1440061"/>
            <a:ext cx="17937480" cy="7764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385"/>
              </a:lnSpc>
              <a:buNone/>
            </a:pPr>
            <a:r>
              <a:rPr lang="en-US" sz="5100" b="1" spc="-76" kern="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兩個版本</a:t>
            </a:r>
            <a:endParaRPr lang="en-US" sz="5100" dirty="0"/>
          </a:p>
        </p:txBody>
      </p:sp>
      <p:sp>
        <p:nvSpPr>
          <p:cNvPr id="4" name="Shape 2"/>
          <p:cNvSpPr/>
          <p:nvPr/>
        </p:nvSpPr>
        <p:spPr>
          <a:xfrm>
            <a:off x="990600" y="2635597"/>
            <a:ext cx="163068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90600" y="3102322"/>
            <a:ext cx="7886700" cy="2819846"/>
          </a:xfrm>
          <a:prstGeom prst="rect">
            <a:avLst/>
          </a:prstGeom>
          <a:ln w="9525">
            <a:solidFill>
              <a:srgbClr val="1F1F1F">
                <a:alpha val="16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43025" y="3492847"/>
            <a:ext cx="7900035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1800" spc="216" kern="0" dirty="0">
                <a:solidFill>
                  <a:srgbClr val="4161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免費版 · 主線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43025" y="4037558"/>
            <a:ext cx="7900035" cy="549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360"/>
              </a:lnSpc>
              <a:buNone/>
            </a:pPr>
            <a:r>
              <a:rPr lang="en-US" sz="3300" b="1" spc="-49" kern="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聊天介面 + GitHub 網頁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1343025" y="4739283"/>
            <a:ext cx="7397306" cy="830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194"/>
              </a:lnSpc>
              <a:buNone/>
            </a:pPr>
            <a:r>
              <a:rPr lang="en-US" sz="1950" dirty="0">
                <a:solidFill>
                  <a:srgbClr val="5D5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免費帳號即可，不必訂閱、不必安裝。學員自行把回覆存成檔案，總長 195 分鐘。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9410700" y="3102322"/>
            <a:ext cx="7886700" cy="2819846"/>
          </a:xfrm>
          <a:prstGeom prst="rect">
            <a:avLst/>
          </a:prstGeom>
          <a:ln w="9525">
            <a:solidFill>
              <a:srgbClr val="1F1F1F">
                <a:alpha val="16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63125" y="3492847"/>
            <a:ext cx="7900035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1800" spc="216" kern="0" dirty="0">
                <a:solidFill>
                  <a:srgbClr val="4161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付費版 · 根目錄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763125" y="4037558"/>
            <a:ext cx="7900035" cy="549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360"/>
              </a:lnSpc>
              <a:buNone/>
            </a:pPr>
            <a:r>
              <a:rPr lang="en-US" sz="3300" b="1" spc="-49" kern="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桌面版 Claude Code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9763125" y="4739283"/>
            <a:ext cx="7397306" cy="830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194"/>
              </a:lnSpc>
              <a:buNone/>
            </a:pPr>
            <a:r>
              <a:rPr lang="en-US" sz="1950" dirty="0">
                <a:solidFill>
                  <a:srgbClr val="5D5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相同的開放式專題架構與成果。適用於主辦方統一付費或學員已有 Pro 以上方案的場次。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990600" y="6417469"/>
            <a:ext cx="10642671" cy="10132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378"/>
              </a:lnSpc>
              <a:buNone/>
            </a:pPr>
            <a:r>
              <a:rPr lang="en-US" sz="24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免費版每個提示詞結尾都多一句「請給我完整程式碼」。這是刻意的差異，不是要修掉的不一致。</a:t>
            </a:r>
            <a:endParaRPr lang="en-US" sz="2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2F2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914400"/>
            <a:ext cx="1793748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1800" spc="252" kern="0" dirty="0">
                <a:solidFill>
                  <a:srgbClr val="4161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CHECKLIST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600" y="1440061"/>
            <a:ext cx="17937480" cy="7764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385"/>
              </a:lnSpc>
              <a:buNone/>
            </a:pPr>
            <a:r>
              <a:rPr lang="en-US" sz="5100" b="1" spc="-76" kern="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開課前四件事</a:t>
            </a:r>
            <a:endParaRPr lang="en-US" sz="5100" dirty="0"/>
          </a:p>
        </p:txBody>
      </p:sp>
      <p:sp>
        <p:nvSpPr>
          <p:cNvPr id="4" name="Shape 2"/>
          <p:cNvSpPr/>
          <p:nvPr/>
        </p:nvSpPr>
        <p:spPr>
          <a:xfrm>
            <a:off x="990600" y="2635597"/>
            <a:ext cx="163068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90600" y="3102322"/>
            <a:ext cx="251817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805"/>
              </a:lnSpc>
              <a:buNone/>
            </a:pPr>
            <a:r>
              <a:rPr lang="en-US" sz="5400" dirty="0">
                <a:solidFill>
                  <a:srgbClr val="B5D9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1432917" y="3102322"/>
            <a:ext cx="6139979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222"/>
              </a:lnSpc>
              <a:buNone/>
            </a:pPr>
            <a:r>
              <a:rPr lang="en-US" sz="3000" b="1" spc="-45" kern="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學員只需要免費帳號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432917" y="3689003"/>
            <a:ext cx="6139979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194"/>
              </a:lnSpc>
              <a:buNone/>
            </a:pPr>
            <a:r>
              <a:rPr lang="en-US" sz="1950" dirty="0">
                <a:solidFill>
                  <a:srgbClr val="5D5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claude.ai 與 GitHub 免費方案即可，不必訂閱、不必安裝。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9448800" y="3102322"/>
            <a:ext cx="351979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805"/>
              </a:lnSpc>
              <a:buNone/>
            </a:pPr>
            <a:r>
              <a:rPr lang="en-US" sz="5400" dirty="0">
                <a:solidFill>
                  <a:srgbClr val="B5D9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9991279" y="3102322"/>
            <a:ext cx="5993130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222"/>
              </a:lnSpc>
              <a:buNone/>
            </a:pPr>
            <a:r>
              <a:rPr lang="en-US" sz="3000" b="1" spc="-45" kern="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學員要自己把回覆存成檔案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9991279" y="3689003"/>
            <a:ext cx="5993130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194"/>
              </a:lnSpc>
              <a:buNone/>
            </a:pPr>
            <a:r>
              <a:rPr lang="en-US" sz="1950" dirty="0">
                <a:solidFill>
                  <a:srgbClr val="5D5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所以每個提示詞結尾都要寫「請給我完整程式碼」。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990600" y="4542383"/>
            <a:ext cx="356146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805"/>
              </a:lnSpc>
              <a:buNone/>
            </a:pPr>
            <a:r>
              <a:rPr lang="en-US" sz="5400" dirty="0">
                <a:solidFill>
                  <a:srgbClr val="B5D9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1537246" y="4542383"/>
            <a:ext cx="5665708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222"/>
              </a:lnSpc>
              <a:buNone/>
            </a:pPr>
            <a:r>
              <a:rPr lang="en-US" sz="3000" b="1" spc="-45" kern="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學員 repo 必須是 Public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537246" y="5129064"/>
            <a:ext cx="5665708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194"/>
              </a:lnSpc>
              <a:buNone/>
            </a:pPr>
            <a:r>
              <a:rPr lang="en-US" sz="1950" dirty="0">
                <a:solidFill>
                  <a:srgbClr val="5D5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若要使用 GitHub Pages，應在 Lab 0 完成設定。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9448800" y="4542383"/>
            <a:ext cx="360908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805"/>
              </a:lnSpc>
              <a:buNone/>
            </a:pPr>
            <a:r>
              <a:rPr lang="en-US" sz="5400" dirty="0">
                <a:solidFill>
                  <a:srgbClr val="B5D9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400" dirty="0"/>
          </a:p>
        </p:txBody>
      </p:sp>
      <p:sp>
        <p:nvSpPr>
          <p:cNvPr id="15" name="Text 13"/>
          <p:cNvSpPr/>
          <p:nvPr/>
        </p:nvSpPr>
        <p:spPr>
          <a:xfrm>
            <a:off x="10000208" y="4542383"/>
            <a:ext cx="5448300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222"/>
              </a:lnSpc>
              <a:buNone/>
            </a:pPr>
            <a:r>
              <a:rPr lang="en-US" sz="3000" b="1" spc="-45" kern="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課前通知信一定要寄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10000208" y="5129064"/>
            <a:ext cx="5448300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194"/>
              </a:lnSpc>
              <a:buNone/>
            </a:pPr>
            <a:r>
              <a:rPr lang="en-US" sz="1950" dirty="0">
                <a:solidFill>
                  <a:srgbClr val="5D5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否則課程前段可能需要處理帳號與登入問題。</a:t>
            </a:r>
            <a:endParaRPr lang="en-US" sz="1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2F2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914400"/>
            <a:ext cx="1793748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1800" spc="252" kern="0" dirty="0">
                <a:solidFill>
                  <a:srgbClr val="4161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MAINTENANCE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600" y="1440061"/>
            <a:ext cx="17937480" cy="7764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385"/>
              </a:lnSpc>
              <a:buNone/>
            </a:pPr>
            <a:r>
              <a:rPr lang="en-US" sz="5100" b="1" spc="-76" kern="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改教材時的同步規則</a:t>
            </a:r>
            <a:endParaRPr lang="en-US" sz="5100" dirty="0"/>
          </a:p>
        </p:txBody>
      </p:sp>
      <p:sp>
        <p:nvSpPr>
          <p:cNvPr id="4" name="Shape 2"/>
          <p:cNvSpPr/>
          <p:nvPr/>
        </p:nvSpPr>
        <p:spPr>
          <a:xfrm>
            <a:off x="990600" y="2635597"/>
            <a:ext cx="163068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90600" y="3711922"/>
            <a:ext cx="16306800" cy="9525"/>
          </a:xfrm>
          <a:prstGeom prst="rect">
            <a:avLst/>
          </a:prstGeom>
          <a:solidFill>
            <a:srgbClr val="D6EBFF"/>
          </a:solidFill>
          <a:ln/>
        </p:spPr>
      </p:sp>
      <p:sp>
        <p:nvSpPr>
          <p:cNvPr id="6" name="Text 4"/>
          <p:cNvSpPr/>
          <p:nvPr/>
        </p:nvSpPr>
        <p:spPr>
          <a:xfrm>
            <a:off x="990600" y="2988022"/>
            <a:ext cx="6098724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429"/>
              </a:lnSpc>
              <a:buNone/>
            </a:pPr>
            <a:r>
              <a:rPr lang="en-US" sz="27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動到時間或順序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992094" y="2988022"/>
            <a:ext cx="11335836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730"/>
              </a:lnSpc>
              <a:buNone/>
            </a:pPr>
            <a:r>
              <a:rPr lang="en-US" sz="2400" dirty="0">
                <a:solidFill>
                  <a:srgbClr val="5D5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先改該版本的 timeline.md，再往下同步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990600" y="4712047"/>
            <a:ext cx="16306800" cy="9525"/>
          </a:xfrm>
          <a:prstGeom prst="rect">
            <a:avLst/>
          </a:prstGeom>
          <a:solidFill>
            <a:srgbClr val="D6EBFF"/>
          </a:solidFill>
          <a:ln/>
        </p:spPr>
      </p:sp>
      <p:sp>
        <p:nvSpPr>
          <p:cNvPr id="9" name="Text 7"/>
          <p:cNvSpPr/>
          <p:nvPr/>
        </p:nvSpPr>
        <p:spPr>
          <a:xfrm>
            <a:off x="990600" y="3988147"/>
            <a:ext cx="6098724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429"/>
              </a:lnSpc>
              <a:buNone/>
            </a:pPr>
            <a:r>
              <a:rPr lang="en-US" sz="27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動到學員要貼的提示詞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6992094" y="3988147"/>
            <a:ext cx="11335836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730"/>
              </a:lnSpc>
              <a:buNone/>
            </a:pPr>
            <a:r>
              <a:rPr lang="en-US" sz="2400" dirty="0">
                <a:solidFill>
                  <a:srgbClr val="5D5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同一版本的 workbook/ 和 site/index.html 必須逐字一致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990600" y="5712172"/>
            <a:ext cx="16306800" cy="9525"/>
          </a:xfrm>
          <a:prstGeom prst="rect">
            <a:avLst/>
          </a:prstGeom>
          <a:solidFill>
            <a:srgbClr val="D6EBFF"/>
          </a:solidFill>
          <a:ln/>
        </p:spPr>
      </p:sp>
      <p:sp>
        <p:nvSpPr>
          <p:cNvPr id="12" name="Text 10"/>
          <p:cNvSpPr/>
          <p:nvPr/>
        </p:nvSpPr>
        <p:spPr>
          <a:xfrm>
            <a:off x="990600" y="4988272"/>
            <a:ext cx="6098724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429"/>
              </a:lnSpc>
              <a:buNone/>
            </a:pPr>
            <a:r>
              <a:rPr lang="en-US" sz="27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改完隨堂網站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6992094" y="4988272"/>
            <a:ext cx="11335836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730"/>
              </a:lnSpc>
              <a:buNone/>
            </a:pPr>
            <a:r>
              <a:rPr lang="en-US" sz="2400" dirty="0">
                <a:solidFill>
                  <a:srgbClr val="5D5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各自回到自己原本的網址，兩個網址不互換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990600" y="5988397"/>
            <a:ext cx="6098724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429"/>
              </a:lnSpc>
              <a:buNone/>
            </a:pPr>
            <a:r>
              <a:rPr lang="en-US" sz="27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改完任一版 Lab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6992094" y="5988397"/>
            <a:ext cx="11335836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730"/>
              </a:lnSpc>
              <a:buNone/>
            </a:pPr>
            <a:r>
              <a:rPr lang="en-US" sz="2400" dirty="0">
                <a:solidFill>
                  <a:srgbClr val="5D5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另一版通常要跟著改，但提示詞不必逐字一致</a:t>
            </a:r>
            <a:endParaRPr lang="en-US" sz="2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D2D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2695724"/>
            <a:ext cx="10454274" cy="2918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565"/>
              </a:lnSpc>
              <a:buNone/>
            </a:pPr>
            <a:r>
              <a:rPr lang="en-US" sz="6000" dirty="0">
                <a:solidFill>
                  <a:srgbClr val="F2F2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今天完成的不是一組固定答案，而是一套可以重複使用的工作方式。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990600" y="5995095"/>
            <a:ext cx="8514045" cy="10132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378"/>
              </a:lnSpc>
              <a:buNone/>
            </a:pPr>
            <a:r>
              <a:rPr lang="en-US" sz="2400" dirty="0">
                <a:solidFill>
                  <a:srgbClr val="B5D9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問題是否值得處理、目標如何取捨、結果是否正確，仍需要由使用者判斷。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90600" y="7389316"/>
            <a:ext cx="1793748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1800" spc="252" kern="0" dirty="0">
                <a:solidFill>
                  <a:srgbClr val="94BC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github.com/htchen/LLM2Life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2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914400"/>
            <a:ext cx="1793748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1800" spc="252" kern="0" dirty="0">
                <a:solidFill>
                  <a:srgbClr val="4161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ARGUMENT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600" y="1440061"/>
            <a:ext cx="17937480" cy="7764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385"/>
              </a:lnSpc>
              <a:buNone/>
            </a:pPr>
            <a:r>
              <a:rPr lang="en-US" sz="5100" b="1" spc="-76" kern="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補充段落：四個觀點</a:t>
            </a:r>
            <a:endParaRPr lang="en-US" sz="5100" dirty="0"/>
          </a:p>
        </p:txBody>
      </p:sp>
      <p:sp>
        <p:nvSpPr>
          <p:cNvPr id="4" name="Shape 2"/>
          <p:cNvSpPr/>
          <p:nvPr/>
        </p:nvSpPr>
        <p:spPr>
          <a:xfrm>
            <a:off x="990600" y="3289846"/>
            <a:ext cx="3587353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90600" y="2787997"/>
            <a:ext cx="3466374" cy="3875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1800" spc="180" kern="0" dirty="0">
                <a:solidFill>
                  <a:srgbClr val="7A7A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觀點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7953" y="3289846"/>
            <a:ext cx="12719447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577953" y="2787997"/>
            <a:ext cx="13101030" cy="3875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1800" spc="180" kern="0" dirty="0">
                <a:solidFill>
                  <a:srgbClr val="7A7A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內容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90600" y="4190851"/>
            <a:ext cx="3587353" cy="9525"/>
          </a:xfrm>
          <a:prstGeom prst="rect">
            <a:avLst/>
          </a:prstGeom>
          <a:solidFill>
            <a:srgbClr val="D6EBFF"/>
          </a:solidFill>
          <a:ln/>
        </p:spPr>
      </p:sp>
      <p:sp>
        <p:nvSpPr>
          <p:cNvPr id="9" name="Text 7"/>
          <p:cNvSpPr/>
          <p:nvPr/>
        </p:nvSpPr>
        <p:spPr>
          <a:xfrm>
            <a:off x="990600" y="3508921"/>
            <a:ext cx="3466374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4054"/>
              </a:lnSpc>
              <a:buNone/>
            </a:pPr>
            <a:r>
              <a:rPr lang="en-US" sz="24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被記錄下來的文明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4577953" y="4190851"/>
            <a:ext cx="12719447" cy="9525"/>
          </a:xfrm>
          <a:prstGeom prst="rect">
            <a:avLst/>
          </a:prstGeom>
          <a:solidFill>
            <a:srgbClr val="D6EBFF"/>
          </a:solidFill>
          <a:ln/>
        </p:spPr>
      </p:sp>
      <p:sp>
        <p:nvSpPr>
          <p:cNvPr id="11" name="Text 9"/>
          <p:cNvSpPr/>
          <p:nvPr/>
        </p:nvSpPr>
        <p:spPr>
          <a:xfrm>
            <a:off x="4577953" y="3508921"/>
            <a:ext cx="13101030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4054"/>
              </a:lnSpc>
              <a:buNone/>
            </a:pPr>
            <a:r>
              <a:rPr lang="en-US" sz="24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模型強的地方，是人類記錄得最密的地方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990600" y="5091857"/>
            <a:ext cx="3587353" cy="9525"/>
          </a:xfrm>
          <a:prstGeom prst="rect">
            <a:avLst/>
          </a:prstGeom>
          <a:solidFill>
            <a:srgbClr val="D6EBFF"/>
          </a:solidFill>
          <a:ln/>
        </p:spPr>
      </p:sp>
      <p:sp>
        <p:nvSpPr>
          <p:cNvPr id="13" name="Text 11"/>
          <p:cNvSpPr/>
          <p:nvPr/>
        </p:nvSpPr>
        <p:spPr>
          <a:xfrm>
            <a:off x="990600" y="4409926"/>
            <a:ext cx="3466374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4054"/>
              </a:lnSpc>
              <a:buNone/>
            </a:pPr>
            <a:r>
              <a:rPr lang="en-US" sz="24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程式可以自主閉環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4577953" y="5091857"/>
            <a:ext cx="12719447" cy="9525"/>
          </a:xfrm>
          <a:prstGeom prst="rect">
            <a:avLst/>
          </a:prstGeom>
          <a:solidFill>
            <a:srgbClr val="D6EBFF"/>
          </a:solidFill>
          <a:ln/>
        </p:spPr>
      </p:sp>
      <p:sp>
        <p:nvSpPr>
          <p:cNvPr id="15" name="Text 13"/>
          <p:cNvSpPr/>
          <p:nvPr/>
        </p:nvSpPr>
        <p:spPr>
          <a:xfrm>
            <a:off x="4577953" y="4409926"/>
            <a:ext cx="13101030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4054"/>
              </a:lnSpc>
              <a:buNone/>
            </a:pPr>
            <a:r>
              <a:rPr lang="en-US" sz="24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產生、執行、讀結果、修正，不需要人介入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990600" y="5992862"/>
            <a:ext cx="3587353" cy="9525"/>
          </a:xfrm>
          <a:prstGeom prst="rect">
            <a:avLst/>
          </a:prstGeom>
          <a:solidFill>
            <a:srgbClr val="D6EBFF"/>
          </a:solidFill>
          <a:ln/>
        </p:spPr>
      </p:sp>
      <p:sp>
        <p:nvSpPr>
          <p:cNvPr id="17" name="Text 15"/>
          <p:cNvSpPr/>
          <p:nvPr/>
        </p:nvSpPr>
        <p:spPr>
          <a:xfrm>
            <a:off x="990600" y="5310932"/>
            <a:ext cx="3466374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4054"/>
              </a:lnSpc>
              <a:buNone/>
            </a:pPr>
            <a:r>
              <a:rPr lang="en-US" sz="24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物理世界會斷環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4577953" y="5992862"/>
            <a:ext cx="12719447" cy="9525"/>
          </a:xfrm>
          <a:prstGeom prst="rect">
            <a:avLst/>
          </a:prstGeom>
          <a:solidFill>
            <a:srgbClr val="D6EBFF"/>
          </a:solidFill>
          <a:ln/>
        </p:spPr>
      </p:sp>
      <p:sp>
        <p:nvSpPr>
          <p:cNvPr id="19" name="Text 17"/>
          <p:cNvSpPr/>
          <p:nvPr/>
        </p:nvSpPr>
        <p:spPr>
          <a:xfrm>
            <a:off x="4577953" y="5310932"/>
            <a:ext cx="13101030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4054"/>
              </a:lnSpc>
              <a:buNone/>
            </a:pPr>
            <a:r>
              <a:rPr lang="en-US" sz="24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執行與觀察只能由人接上，回饋因此變慢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990600" y="6211937"/>
            <a:ext cx="3466374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4054"/>
              </a:lnSpc>
              <a:buNone/>
            </a:pPr>
            <a:r>
              <a:rPr lang="en-US" sz="24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造成差異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4577953" y="6211937"/>
            <a:ext cx="13101030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4054"/>
              </a:lnSpc>
              <a:buNone/>
            </a:pPr>
            <a:r>
              <a:rPr lang="en-US" sz="24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只有你有的經驗與取捨，決定它能做到多準</a:t>
            </a:r>
            <a:endParaRPr lang="en-US" sz="2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2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2838896"/>
            <a:ext cx="17937480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9565"/>
              </a:lnSpc>
              <a:buNone/>
            </a:pPr>
            <a:r>
              <a:rPr lang="en-US" sz="13500" dirty="0">
                <a:solidFill>
                  <a:srgbClr val="B5D9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</a:t>
            </a:r>
            <a:endParaRPr lang="en-US" sz="13500" dirty="0"/>
          </a:p>
        </p:txBody>
      </p:sp>
      <p:sp>
        <p:nvSpPr>
          <p:cNvPr id="3" name="Text 1"/>
          <p:cNvSpPr/>
          <p:nvPr/>
        </p:nvSpPr>
        <p:spPr>
          <a:xfrm>
            <a:off x="990600" y="4705796"/>
            <a:ext cx="9966342" cy="20832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255"/>
              </a:lnSpc>
              <a:buNone/>
            </a:pPr>
            <a:r>
              <a:rPr lang="en-US" sz="5100" dirty="0">
                <a:solidFill>
                  <a:srgbClr val="2C45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能自主驗證的事，會愈來愈快；不能自主驗證的事，仍然靠人。</a:t>
            </a:r>
            <a:endParaRPr lang="en-US" sz="5100" dirty="0"/>
          </a:p>
        </p:txBody>
      </p:sp>
      <p:sp>
        <p:nvSpPr>
          <p:cNvPr id="4" name="Text 2"/>
          <p:cNvSpPr/>
          <p:nvPr/>
        </p:nvSpPr>
        <p:spPr>
          <a:xfrm>
            <a:off x="990600" y="7246293"/>
            <a:ext cx="1793748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1800" spc="216" kern="0" dirty="0">
                <a:solidFill>
                  <a:srgbClr val="7A7A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instructor/insights.md — 補充段落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2F2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914400"/>
            <a:ext cx="1793748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1800" spc="252" kern="0" dirty="0">
                <a:solidFill>
                  <a:srgbClr val="4161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AUDIENCE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600" y="1440061"/>
            <a:ext cx="17937480" cy="7764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385"/>
              </a:lnSpc>
              <a:buNone/>
            </a:pPr>
            <a:r>
              <a:rPr lang="en-US" sz="5100" b="1" spc="-76" kern="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對象與兩個回收路徑</a:t>
            </a:r>
            <a:endParaRPr lang="en-US" sz="5100" dirty="0"/>
          </a:p>
        </p:txBody>
      </p:sp>
      <p:sp>
        <p:nvSpPr>
          <p:cNvPr id="4" name="Shape 2"/>
          <p:cNvSpPr/>
          <p:nvPr/>
        </p:nvSpPr>
        <p:spPr>
          <a:xfrm>
            <a:off x="990600" y="2635597"/>
            <a:ext cx="163068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90600" y="3102322"/>
            <a:ext cx="7886700" cy="2819846"/>
          </a:xfrm>
          <a:prstGeom prst="rect">
            <a:avLst/>
          </a:prstGeom>
          <a:ln w="9525">
            <a:solidFill>
              <a:srgbClr val="1F1F1F">
                <a:alpha val="16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43025" y="3492847"/>
            <a:ext cx="7900035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1800" spc="216" kern="0" dirty="0">
                <a:solidFill>
                  <a:srgbClr val="4161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回收路徑 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43025" y="4037558"/>
            <a:ext cx="7900035" cy="549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360"/>
              </a:lnSpc>
              <a:buNone/>
            </a:pPr>
            <a:r>
              <a:rPr lang="en-US" sz="3300" b="1" spc="-49" kern="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回校開給其他老師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1343025" y="4739283"/>
            <a:ext cx="7397306" cy="830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194"/>
              </a:lnSpc>
              <a:buNone/>
            </a:pPr>
            <a:r>
              <a:rPr lang="en-US" sz="1950" dirty="0">
                <a:solidFill>
                  <a:srgbClr val="5D5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講師文件是交付物的一部分，不是後台資料。教材以 CC BY 4.0 授權，可改編與再散布。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9410700" y="3102322"/>
            <a:ext cx="7886700" cy="2819846"/>
          </a:xfrm>
          <a:prstGeom prst="rect">
            <a:avLst/>
          </a:prstGeom>
          <a:ln w="9525">
            <a:solidFill>
              <a:srgbClr val="1F1F1F">
                <a:alpha val="16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63125" y="3492847"/>
            <a:ext cx="7900035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1800" spc="216" kern="0" dirty="0">
                <a:solidFill>
                  <a:srgbClr val="4161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回收路徑 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763125" y="4037558"/>
            <a:ext cx="7900035" cy="549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360"/>
              </a:lnSpc>
              <a:buNone/>
            </a:pPr>
            <a:r>
              <a:rPr lang="en-US" sz="3300" b="1" spc="-49" kern="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做出輔助教學的工具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9763125" y="4739283"/>
            <a:ext cx="7397306" cy="830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194"/>
              </a:lnSpc>
              <a:buNone/>
            </a:pPr>
            <a:r>
              <a:rPr lang="en-US" sz="1950" dirty="0">
                <a:solidFill>
                  <a:srgbClr val="5D5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個人專題的題材就是高中教材製作與課堂輔助，不是一般的生活小工具。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990600" y="6417469"/>
            <a:ext cx="10642671" cy="10132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378"/>
              </a:lnSpc>
              <a:buNone/>
            </a:pPr>
            <a:r>
              <a:rPr lang="en-US" sz="24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學生不需要任何帳號：老師做出來的是一個網頁，學生只是打開來使用。這繞開了未成年帳號與家長同意的問題。</a:t>
            </a:r>
            <a:endParaRPr lang="en-US" sz="2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2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914400"/>
            <a:ext cx="1793748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1800" spc="252" kern="0" dirty="0">
                <a:solidFill>
                  <a:srgbClr val="4161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INQUIRY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600" y="1440061"/>
            <a:ext cx="17937480" cy="7764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385"/>
              </a:lnSpc>
              <a:buNone/>
            </a:pPr>
            <a:r>
              <a:rPr lang="en-US" sz="5100" b="1" spc="-76" kern="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六步流程就是探究歷程</a:t>
            </a:r>
            <a:endParaRPr lang="en-US" sz="5100" dirty="0"/>
          </a:p>
        </p:txBody>
      </p:sp>
      <p:sp>
        <p:nvSpPr>
          <p:cNvPr id="4" name="Shape 2"/>
          <p:cNvSpPr/>
          <p:nvPr/>
        </p:nvSpPr>
        <p:spPr>
          <a:xfrm>
            <a:off x="990600" y="3289846"/>
            <a:ext cx="3587353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90600" y="2787997"/>
            <a:ext cx="3466374" cy="3875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1800" spc="180" kern="0" dirty="0">
                <a:solidFill>
                  <a:srgbClr val="7A7A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今天的六步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7953" y="3289846"/>
            <a:ext cx="12719447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577953" y="2787997"/>
            <a:ext cx="13101030" cy="3875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1800" spc="180" kern="0" dirty="0">
                <a:solidFill>
                  <a:srgbClr val="7A7A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學生的探究歷程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90600" y="4190851"/>
            <a:ext cx="3587353" cy="9525"/>
          </a:xfrm>
          <a:prstGeom prst="rect">
            <a:avLst/>
          </a:prstGeom>
          <a:solidFill>
            <a:srgbClr val="D6EBFF"/>
          </a:solidFill>
          <a:ln/>
        </p:spPr>
      </p:sp>
      <p:sp>
        <p:nvSpPr>
          <p:cNvPr id="9" name="Text 7"/>
          <p:cNvSpPr/>
          <p:nvPr/>
        </p:nvSpPr>
        <p:spPr>
          <a:xfrm>
            <a:off x="990600" y="3508921"/>
            <a:ext cx="3466374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4054"/>
              </a:lnSpc>
              <a:buNone/>
            </a:pPr>
            <a:r>
              <a:rPr lang="en-US" sz="24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提出問題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4577953" y="4190851"/>
            <a:ext cx="12719447" cy="9525"/>
          </a:xfrm>
          <a:prstGeom prst="rect">
            <a:avLst/>
          </a:prstGeom>
          <a:solidFill>
            <a:srgbClr val="D6EBFF"/>
          </a:solidFill>
          <a:ln/>
        </p:spPr>
      </p:sp>
      <p:sp>
        <p:nvSpPr>
          <p:cNvPr id="11" name="Text 9"/>
          <p:cNvSpPr/>
          <p:nvPr/>
        </p:nvSpPr>
        <p:spPr>
          <a:xfrm>
            <a:off x="4577953" y="3508921"/>
            <a:ext cx="13101030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4054"/>
              </a:lnSpc>
              <a:buNone/>
            </a:pPr>
            <a:r>
              <a:rPr lang="en-US" sz="24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觀察現象，提出可探究的問題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990600" y="5091857"/>
            <a:ext cx="3587353" cy="9525"/>
          </a:xfrm>
          <a:prstGeom prst="rect">
            <a:avLst/>
          </a:prstGeom>
          <a:solidFill>
            <a:srgbClr val="D6EBFF"/>
          </a:solidFill>
          <a:ln/>
        </p:spPr>
      </p:sp>
      <p:sp>
        <p:nvSpPr>
          <p:cNvPr id="13" name="Text 11"/>
          <p:cNvSpPr/>
          <p:nvPr/>
        </p:nvSpPr>
        <p:spPr>
          <a:xfrm>
            <a:off x="990600" y="4409926"/>
            <a:ext cx="3466374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4054"/>
              </a:lnSpc>
              <a:buNone/>
            </a:pPr>
            <a:r>
              <a:rPr lang="en-US" sz="24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定義目標與驗收條件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4577953" y="5091857"/>
            <a:ext cx="12719447" cy="9525"/>
          </a:xfrm>
          <a:prstGeom prst="rect">
            <a:avLst/>
          </a:prstGeom>
          <a:solidFill>
            <a:srgbClr val="D6EBFF"/>
          </a:solidFill>
          <a:ln/>
        </p:spPr>
      </p:sp>
      <p:sp>
        <p:nvSpPr>
          <p:cNvPr id="15" name="Text 13"/>
          <p:cNvSpPr/>
          <p:nvPr/>
        </p:nvSpPr>
        <p:spPr>
          <a:xfrm>
            <a:off x="4577953" y="4409926"/>
            <a:ext cx="13101030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4054"/>
              </a:lnSpc>
              <a:buNone/>
            </a:pPr>
            <a:r>
              <a:rPr lang="en-US" sz="24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把問題縮成可檢驗的預測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990600" y="5992862"/>
            <a:ext cx="3587353" cy="9525"/>
          </a:xfrm>
          <a:prstGeom prst="rect">
            <a:avLst/>
          </a:prstGeom>
          <a:solidFill>
            <a:srgbClr val="D6EBFF"/>
          </a:solidFill>
          <a:ln/>
        </p:spPr>
      </p:sp>
      <p:sp>
        <p:nvSpPr>
          <p:cNvPr id="17" name="Text 15"/>
          <p:cNvSpPr/>
          <p:nvPr/>
        </p:nvSpPr>
        <p:spPr>
          <a:xfrm>
            <a:off x="990600" y="5310932"/>
            <a:ext cx="3466374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4054"/>
              </a:lnSpc>
              <a:buNone/>
            </a:pPr>
            <a:r>
              <a:rPr lang="en-US" sz="24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拆解計畫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4577953" y="5992862"/>
            <a:ext cx="12719447" cy="9525"/>
          </a:xfrm>
          <a:prstGeom prst="rect">
            <a:avLst/>
          </a:prstGeom>
          <a:solidFill>
            <a:srgbClr val="D6EBFF"/>
          </a:solidFill>
          <a:ln/>
        </p:spPr>
      </p:sp>
      <p:sp>
        <p:nvSpPr>
          <p:cNvPr id="19" name="Text 17"/>
          <p:cNvSpPr/>
          <p:nvPr/>
        </p:nvSpPr>
        <p:spPr>
          <a:xfrm>
            <a:off x="4577953" y="5310932"/>
            <a:ext cx="13101030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4054"/>
              </a:lnSpc>
              <a:buNone/>
            </a:pPr>
            <a:r>
              <a:rPr lang="en-US" sz="24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設計步驟與方法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990600" y="6893868"/>
            <a:ext cx="3587353" cy="9525"/>
          </a:xfrm>
          <a:prstGeom prst="rect">
            <a:avLst/>
          </a:prstGeom>
          <a:solidFill>
            <a:srgbClr val="D6EBFF"/>
          </a:solidFill>
          <a:ln/>
        </p:spPr>
      </p:sp>
      <p:sp>
        <p:nvSpPr>
          <p:cNvPr id="21" name="Text 19"/>
          <p:cNvSpPr/>
          <p:nvPr/>
        </p:nvSpPr>
        <p:spPr>
          <a:xfrm>
            <a:off x="990600" y="6211937"/>
            <a:ext cx="3466374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4054"/>
              </a:lnSpc>
              <a:buNone/>
            </a:pPr>
            <a:r>
              <a:rPr lang="en-US" sz="24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分段實作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4577953" y="6893868"/>
            <a:ext cx="12719447" cy="9525"/>
          </a:xfrm>
          <a:prstGeom prst="rect">
            <a:avLst/>
          </a:prstGeom>
          <a:solidFill>
            <a:srgbClr val="D6EBFF"/>
          </a:solidFill>
          <a:ln/>
        </p:spPr>
      </p:sp>
      <p:sp>
        <p:nvSpPr>
          <p:cNvPr id="23" name="Text 21"/>
          <p:cNvSpPr/>
          <p:nvPr/>
        </p:nvSpPr>
        <p:spPr>
          <a:xfrm>
            <a:off x="4577953" y="6211937"/>
            <a:ext cx="13101030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4054"/>
              </a:lnSpc>
              <a:buNone/>
            </a:pPr>
            <a:r>
              <a:rPr lang="en-US" sz="24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蒐集資料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990600" y="7794873"/>
            <a:ext cx="3587353" cy="9525"/>
          </a:xfrm>
          <a:prstGeom prst="rect">
            <a:avLst/>
          </a:prstGeom>
          <a:solidFill>
            <a:srgbClr val="D6EBFF"/>
          </a:solidFill>
          <a:ln/>
        </p:spPr>
      </p:sp>
      <p:sp>
        <p:nvSpPr>
          <p:cNvPr id="25" name="Text 23"/>
          <p:cNvSpPr/>
          <p:nvPr/>
        </p:nvSpPr>
        <p:spPr>
          <a:xfrm>
            <a:off x="990600" y="7112943"/>
            <a:ext cx="3466374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4054"/>
              </a:lnSpc>
              <a:buNone/>
            </a:pPr>
            <a:r>
              <a:rPr lang="en-US" sz="24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驗證</a:t>
            </a:r>
            <a:endParaRPr lang="en-US" sz="2400" dirty="0"/>
          </a:p>
        </p:txBody>
      </p:sp>
      <p:sp>
        <p:nvSpPr>
          <p:cNvPr id="26" name="Shape 24"/>
          <p:cNvSpPr/>
          <p:nvPr/>
        </p:nvSpPr>
        <p:spPr>
          <a:xfrm>
            <a:off x="4577953" y="7794873"/>
            <a:ext cx="12719447" cy="9525"/>
          </a:xfrm>
          <a:prstGeom prst="rect">
            <a:avLst/>
          </a:prstGeom>
          <a:solidFill>
            <a:srgbClr val="D6EBFF"/>
          </a:solidFill>
          <a:ln/>
        </p:spPr>
      </p:sp>
      <p:sp>
        <p:nvSpPr>
          <p:cNvPr id="27" name="Text 25"/>
          <p:cNvSpPr/>
          <p:nvPr/>
        </p:nvSpPr>
        <p:spPr>
          <a:xfrm>
            <a:off x="4577953" y="7112943"/>
            <a:ext cx="13101030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4054"/>
              </a:lnSpc>
              <a:buNone/>
            </a:pPr>
            <a:r>
              <a:rPr lang="en-US" sz="24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對照證據，判斷成立與否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990600" y="8013948"/>
            <a:ext cx="3466374" cy="5152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4054"/>
              </a:lnSpc>
              <a:buNone/>
            </a:pPr>
            <a:r>
              <a:rPr lang="en-US" sz="24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決定下一步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4577953" y="8013948"/>
            <a:ext cx="13101030" cy="5152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4054"/>
              </a:lnSpc>
              <a:buNone/>
            </a:pPr>
            <a:r>
              <a:rPr lang="en-US" sz="24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推論、表達，並規劃下一輪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2026-08-26T05:31:34Z</dcterms:created>
  <dcterms:modified xsi:type="dcterms:W3CDTF">2026-08-26T05:31:34Z</dcterms:modified>
</cp:coreProperties>
</file>