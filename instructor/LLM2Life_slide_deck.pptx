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6" r:id="rId27"/>
    <p:sldId id="277" r:id="rId28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這是教材本身的走查，不是課程本身。二十分鐘內講完論證、課程設計、三小時流程、以及教材怎麼維護。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學員用自己的 GitHub 帳號和 Claude 帳號，從生活或工作中的真實問題出發，最後展示一個可操作的最小版本。教材本身是六個資料夾，講師、學員兩邊都齊。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第一段：這堂課要學員相信的是什麼。投影片上只有結論，理由寫在 instructor/insights.md。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這是整套教材的骨幹主張。三件事缺一不可，而課程只教得動其中兩件的判斷能力。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生成工具降低的是第二項的部分成本。第一與第三項沒有被取代，因此在課程時間分配上占更高比例。這也是為什麼共同練習只占 25 分鐘，發想與規劃合計 50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共同練習之後就收在這句。請學員回答：看到第一版後，你才發現哪一項需求沒有寫？第一版不是最終答案，而是用來取得具體回饋。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洞見講稿分成六段，對應課程的六個時刻。每一段講師都有固定的提問方式，這份文件同時寫了被挑戰時怎麼回。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第二段：課程結構怎麼排，以及為什麼這樣排。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固定案例只建立共同操作基礎，不是全班必做的成果。個人專題要來自熟悉的情境，因為使用者本人最能判斷問題是否真實。兩者放在同一個 repo。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這個循環是課程的主線，也是學員帶得走的東西。今天完成的不是一組固定答案，而是一套可以重複使用的工作方式。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這是全課的編排原則，也是講師巡視時的判準：先問你這一步的驗收條件是什麼，不要先看功能數量。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「這次不做」不是附帶項目，而是範圍管理的核心。若學員無法列出不做內容，通常表示題目仍過大。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第三段：時間與順序。instructor/timeline.md 是唯一真實來源，動到時間先改那份。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注意比例：共同操作基礎 65 分，發想與規劃 50 分，實作與展示 50 分。發想與規劃拿到的時間和實作一樣多，這是刻意的。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第四段：教材本身。誰用哪一份、開課前要確認什麼、改教材時要同步什麼。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先讀 timeline.md 和 insights.md。投影片上只有結論，理由在 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免費帳號本身就無法使用 Claude Code，換任何模型都一樣，這不是模型的限制，是方案的限制。免費變體用相同的開放式專題架構，但改以聊天介面加 GitHub 網頁操作。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這四件事沒確認，課程前段就會花在裝軟體和開帳號上。課前通知信一定要寄。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改教材時最容易出錯的地方。細節見 CLAUDE.md。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收束說法：AI 可以協助整理、規劃與實作；問題是否值得處理、目標如何取捨、結果是否正確，仍需要由使用者判斷。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htchen / LLM2Life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592461"/>
            <a:ext cx="11019312" cy="2138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639"/>
              </a:lnSpc>
              <a:buNone/>
            </a:pPr>
            <a:r>
              <a:rPr lang="en-US" sz="7800" b="1" spc="78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Claude Code 把發想做成可操作工具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4016276"/>
            <a:ext cx="8169176" cy="629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三小時實作工作坊的完整教材</a:t>
            </a:r>
            <a:endParaRPr lang="en-US" sz="3450" dirty="0"/>
          </a:p>
        </p:txBody>
      </p:sp>
      <p:sp>
        <p:nvSpPr>
          <p:cNvPr id="5" name="Shape 3"/>
          <p:cNvSpPr/>
          <p:nvPr/>
        </p:nvSpPr>
        <p:spPr>
          <a:xfrm>
            <a:off x="990600" y="7955459"/>
            <a:ext cx="7410450" cy="156954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9225" y="8288834"/>
            <a:ext cx="33528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對象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9225" y="8719245"/>
            <a:ext cx="33528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沒有程式背景的一般人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229225" y="8288834"/>
            <a:ext cx="301752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走查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29225" y="8719245"/>
            <a:ext cx="30175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教材內容與維護方式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教材概觀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895498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922363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學員用自己的 GitHub 帳號和免費 Claude 帳號，逐步完成發想、規劃、實作與驗證，最後展示一個可操作的最小版本。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9060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4302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34302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分鐘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34302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含休息，可縮短為 180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6585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1827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91827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頁投影片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691827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免費版主線，含備忘稿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141101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93526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3526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個資料夾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493526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免費版主線、付費版與共用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論證基礎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課程要成立，先要說清楚生成工具改變了什麼、沒有改變什麼。</a:t>
            </a:r>
            <a:endParaRPr lang="en-US" sz="3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做軟體的三件事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564377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90600" y="3647033"/>
            <a:ext cx="5643771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990600" y="4380756"/>
            <a:ext cx="5284622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問題是否真實、值不值得處理，由使用者本人判斷。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8501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78501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578501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過去這一項需要程式能力，是多數人的門檻。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166550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6550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166550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要有驗收條件，才能說結果符合需求。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生成工具改變的是哪一項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5206901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4925" y="3454747"/>
            <a:ext cx="5036076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04925" y="4132808"/>
            <a:ext cx="5036076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540401" y="3102322"/>
            <a:ext cx="5207050" cy="2292400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4726" y="3454747"/>
            <a:ext cx="471575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854726" y="4658469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部分成本下降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090350" y="3102322"/>
            <a:ext cx="5207050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04675" y="3454747"/>
            <a:ext cx="50362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404675" y="4132808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0600" y="5928122"/>
            <a:ext cx="993307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只有中間一項的成本下降，因此需求釐清與驗證會在整個流程裡占更高比例——課程的時間分配就是照這個比例排的。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66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尚未釐清的需求，無法完整交給人或 AI 執行。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共同練習之後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六個階段的教學重點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階段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教學重點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共同練習之後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需求會在看到結果後變得更明確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發想階段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先確認問題，再討論功能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定義階段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最小版本需要明確的邊界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90600" y="6893868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規劃階段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7953" y="6893868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每一步都要能被驗收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90600" y="7794873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990600" y="7112943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實作階段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577953" y="7794873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7953" y="7112943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以驗收條件帶動迭代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90600" y="8013948"/>
            <a:ext cx="3466374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展示階段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7953" y="8013948"/>
            <a:ext cx="13101030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展示判斷，不比較完成度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課程設計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漸進式開放：先建立基本操作能力，再由學員提出真實需求。</a:t>
            </a:r>
            <a:endParaRPr lang="en-US" sz="3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漸進式開放的兩段結構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11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前段 · 25 分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11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共同練習：探究提問卡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13811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題目固定。描述、修改、驗證各做一次，建立基本操作能力。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012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後段 · 100 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012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個人專題：學員自己的題目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98012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題目開放。從生活或工作的真實問題縮小到可驗證的最小版本。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0600" y="6707386"/>
            <a:ext cx="16796004" cy="453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兩段都放在同一個 repo（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my-life-tools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）。每日摘要與習慣追蹤案例保留為備用路徑與課後參考。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專題循環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77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77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提出問題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1435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06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006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選定題目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2964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535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535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定義最小目標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4493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064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064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寫出驗收條件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06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77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77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拆解步驟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1435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06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006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分段實作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92964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35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535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驗證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3449300" y="4942433"/>
            <a:ext cx="3848100" cy="1535311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064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064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展示與規劃下一版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90600" y="6973044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計畫是目前的最佳理解，不是不能改動的規則。結果讓學員改變需求時，先更新簡述或計畫，再修改檔案。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編排原則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710475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7317900" cy="1424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先形成自己的判斷，再請 AI 協助。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906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發想階段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5567214"/>
            <a:ext cx="867537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先描述問題，不先要求 AI 提供解法。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07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規劃階段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10700" y="5567214"/>
            <a:ext cx="8123301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先由學員界定目標與限制，再請 AI 協助檢查範圍與拆解步驟。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0600" y="7045375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每一輪實作都以學員自己寫出的驗收條件判斷結果。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題目邊界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適合課堂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29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一個主要使用者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一個核心問題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一個可展示流程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項必要功能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可用畫面或操作驗證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低風險、可回復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5250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列入後續版本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773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登入、資料庫、付款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多人即時同步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醫療或法律判斷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敏感個資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大量外部資料整合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自動對外寄送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十二個段落。時間與順序的唯一真實來源是 variant-free/instructor/timeline.md。</a:t>
            </a:r>
            <a:endParaRPr lang="en-US" sz="3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3467725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769"/>
              </a:lnSpc>
              <a:buNone/>
            </a:pPr>
            <a:r>
              <a:rPr lang="en-US" sz="4200" b="1" spc="-63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447877" y="1019175"/>
            <a:ext cx="399454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variant-free/instructor/timeline.md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90600" y="22115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1687711"/>
            <a:ext cx="436685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開場 + 完整存檔 Demo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5230267" y="22115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7" name="Text 5"/>
          <p:cNvSpPr/>
          <p:nvPr/>
        </p:nvSpPr>
        <p:spPr>
          <a:xfrm>
            <a:off x="5230267" y="1687711"/>
            <a:ext cx="10413651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現場示範問、貼、存、開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5340608" y="22115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15264408" y="1687711"/>
            <a:ext cx="203299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90600" y="28354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23068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三個名詞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5230267" y="28354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267" y="23068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/ repo / GitHub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40608" y="28354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15264408" y="23068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90600" y="34593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29307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230267" y="34593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5230267" y="29307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帳號 + 存檔練習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40608" y="34593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15264408" y="29307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分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90600" y="408324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355461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5230267" y="408324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5230267" y="355461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探究提問卡：描述、更新、上傳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40608" y="408324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15264408" y="355461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分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90600" y="470713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417849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回顧 + 補充段落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5230267" y="470713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5230267" y="417849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兩類工作、AI 演進與人的判斷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5340608" y="470713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15264408" y="417849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分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990600" y="533102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480238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休息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5230267" y="533102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5230267" y="480238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340608" y="533102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15264408" y="480238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40" name="Shape 38"/>
          <p:cNvSpPr/>
          <p:nvPr/>
        </p:nvSpPr>
        <p:spPr>
          <a:xfrm>
            <a:off x="990600" y="595491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1" name="Text 39"/>
          <p:cNvSpPr/>
          <p:nvPr/>
        </p:nvSpPr>
        <p:spPr>
          <a:xfrm>
            <a:off x="990600" y="542627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蒐集發想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5230267" y="595491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3" name="Text 41"/>
          <p:cNvSpPr/>
          <p:nvPr/>
        </p:nvSpPr>
        <p:spPr>
          <a:xfrm>
            <a:off x="5230267" y="542627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從生活與工作問題選定專題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15340608" y="595491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5" name="Text 43"/>
          <p:cNvSpPr/>
          <p:nvPr/>
        </p:nvSpPr>
        <p:spPr>
          <a:xfrm>
            <a:off x="15264408" y="542627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</a:t>
            </a:r>
            <a:endParaRPr lang="en-US" sz="2250" dirty="0"/>
          </a:p>
        </p:txBody>
      </p:sp>
      <p:sp>
        <p:nvSpPr>
          <p:cNvPr id="46" name="Shape 44"/>
          <p:cNvSpPr/>
          <p:nvPr/>
        </p:nvSpPr>
        <p:spPr>
          <a:xfrm>
            <a:off x="990600" y="657879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7" name="Text 45"/>
          <p:cNvSpPr/>
          <p:nvPr/>
        </p:nvSpPr>
        <p:spPr>
          <a:xfrm>
            <a:off x="990600" y="605016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定義目標</a:t>
            </a:r>
            <a:endParaRPr lang="en-US" sz="2250" dirty="0"/>
          </a:p>
        </p:txBody>
      </p:sp>
      <p:sp>
        <p:nvSpPr>
          <p:cNvPr id="48" name="Shape 46"/>
          <p:cNvSpPr/>
          <p:nvPr/>
        </p:nvSpPr>
        <p:spPr>
          <a:xfrm>
            <a:off x="5230267" y="657879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9" name="Text 47"/>
          <p:cNvSpPr/>
          <p:nvPr/>
        </p:nvSpPr>
        <p:spPr>
          <a:xfrm>
            <a:off x="5230267" y="605016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專題簡述、最小範圍與驗收條件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340608" y="657879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1" name="Text 49"/>
          <p:cNvSpPr/>
          <p:nvPr/>
        </p:nvSpPr>
        <p:spPr>
          <a:xfrm>
            <a:off x="15264408" y="605016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分</a:t>
            </a:r>
            <a:endParaRPr lang="en-US" sz="2250" dirty="0"/>
          </a:p>
        </p:txBody>
      </p:sp>
      <p:sp>
        <p:nvSpPr>
          <p:cNvPr id="52" name="Shape 50"/>
          <p:cNvSpPr/>
          <p:nvPr/>
        </p:nvSpPr>
        <p:spPr>
          <a:xfrm>
            <a:off x="990600" y="72026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600" y="667404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拆解計畫</a:t>
            </a:r>
            <a:endParaRPr lang="en-US" sz="2250" dirty="0"/>
          </a:p>
        </p:txBody>
      </p:sp>
      <p:sp>
        <p:nvSpPr>
          <p:cNvPr id="54" name="Shape 52"/>
          <p:cNvSpPr/>
          <p:nvPr/>
        </p:nvSpPr>
        <p:spPr>
          <a:xfrm>
            <a:off x="5230267" y="72026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5" name="Text 53"/>
          <p:cNvSpPr/>
          <p:nvPr/>
        </p:nvSpPr>
        <p:spPr>
          <a:xfrm>
            <a:off x="5230267" y="667404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2–4 個步驟</a:t>
            </a:r>
            <a:endParaRPr lang="en-US" sz="2100" dirty="0"/>
          </a:p>
        </p:txBody>
      </p:sp>
      <p:sp>
        <p:nvSpPr>
          <p:cNvPr id="56" name="Shape 54"/>
          <p:cNvSpPr/>
          <p:nvPr/>
        </p:nvSpPr>
        <p:spPr>
          <a:xfrm>
            <a:off x="15340608" y="72026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7" name="Text 55"/>
          <p:cNvSpPr/>
          <p:nvPr/>
        </p:nvSpPr>
        <p:spPr>
          <a:xfrm>
            <a:off x="15264408" y="667404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58" name="Shape 56"/>
          <p:cNvSpPr/>
          <p:nvPr/>
        </p:nvSpPr>
        <p:spPr>
          <a:xfrm>
            <a:off x="990600" y="78265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600" y="72979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實作第一輪</a:t>
            </a:r>
            <a:endParaRPr lang="en-US" sz="2250" dirty="0"/>
          </a:p>
        </p:txBody>
      </p:sp>
      <p:sp>
        <p:nvSpPr>
          <p:cNvPr id="60" name="Shape 58"/>
          <p:cNvSpPr/>
          <p:nvPr/>
        </p:nvSpPr>
        <p:spPr>
          <a:xfrm>
            <a:off x="5230267" y="78265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1" name="Text 59"/>
          <p:cNvSpPr/>
          <p:nvPr/>
        </p:nvSpPr>
        <p:spPr>
          <a:xfrm>
            <a:off x="5230267" y="72979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完成核心流程並上傳 GitHub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15340608" y="78265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3" name="Text 61"/>
          <p:cNvSpPr/>
          <p:nvPr/>
        </p:nvSpPr>
        <p:spPr>
          <a:xfrm>
            <a:off x="15264408" y="72979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分</a:t>
            </a:r>
            <a:endParaRPr lang="en-US" sz="2250" dirty="0"/>
          </a:p>
        </p:txBody>
      </p:sp>
      <p:sp>
        <p:nvSpPr>
          <p:cNvPr id="64" name="Shape 62"/>
          <p:cNvSpPr/>
          <p:nvPr/>
        </p:nvSpPr>
        <p:spPr>
          <a:xfrm>
            <a:off x="990600" y="84504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600" y="79218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實作第二輪</a:t>
            </a:r>
            <a:endParaRPr lang="en-US" sz="2250" dirty="0"/>
          </a:p>
        </p:txBody>
      </p:sp>
      <p:sp>
        <p:nvSpPr>
          <p:cNvPr id="66" name="Shape 64"/>
          <p:cNvSpPr/>
          <p:nvPr/>
        </p:nvSpPr>
        <p:spPr>
          <a:xfrm>
            <a:off x="5230267" y="84504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7" name="Text 65"/>
          <p:cNvSpPr/>
          <p:nvPr/>
        </p:nvSpPr>
        <p:spPr>
          <a:xfrm>
            <a:off x="5230267" y="79218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更新版本並重新驗證</a:t>
            </a:r>
            <a:endParaRPr lang="en-US" sz="2100" dirty="0"/>
          </a:p>
        </p:txBody>
      </p:sp>
      <p:sp>
        <p:nvSpPr>
          <p:cNvPr id="68" name="Shape 66"/>
          <p:cNvSpPr/>
          <p:nvPr/>
        </p:nvSpPr>
        <p:spPr>
          <a:xfrm>
            <a:off x="15340608" y="84504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9" name="Text 67"/>
          <p:cNvSpPr/>
          <p:nvPr/>
        </p:nvSpPr>
        <p:spPr>
          <a:xfrm>
            <a:off x="15264408" y="79218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70" name="Text 68"/>
          <p:cNvSpPr/>
          <p:nvPr/>
        </p:nvSpPr>
        <p:spPr>
          <a:xfrm>
            <a:off x="990600" y="8545711"/>
            <a:ext cx="4366857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展示與回顧</a:t>
            </a:r>
            <a:endParaRPr lang="en-US" sz="2250" dirty="0"/>
          </a:p>
        </p:txBody>
      </p:sp>
      <p:sp>
        <p:nvSpPr>
          <p:cNvPr id="71" name="Text 69"/>
          <p:cNvSpPr/>
          <p:nvPr/>
        </p:nvSpPr>
        <p:spPr>
          <a:xfrm>
            <a:off x="5230267" y="8545711"/>
            <a:ext cx="10413651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成果與下一步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15264408" y="8545711"/>
            <a:ext cx="2032992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分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教材與交付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同一套內容分布在四個介面：投影片、手冊、隨堂網站、講師文件。</a:t>
            </a:r>
            <a:endParaRPr lang="en-US" sz="3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資料夾與版本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13646"/>
            <a:ext cx="391358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30847"/>
            <a:ext cx="3802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904184" y="3213646"/>
            <a:ext cx="1956792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904184" y="2730847"/>
            <a:ext cx="1804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版本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60977" y="3213646"/>
            <a:ext cx="1043642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60977" y="2730847"/>
            <a:ext cx="10749516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90600" y="4017466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341367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slides/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904184" y="401746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904184" y="341367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860977" y="4017466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6860977" y="341367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Marp 投影片，76 頁（免費版 77 頁）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90600" y="4821287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421749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workbook/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904184" y="4821287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904184" y="421749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860977" y="4821287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0977" y="421749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共同練習、發想、規劃、實作手冊 + 重點整理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90600" y="5625108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5021312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site/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4904184" y="562510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4904184" y="5021312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6860977" y="5625108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6860977" y="5021312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隨堂網站與課前準備網頁原始檔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" y="642892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5825133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904184" y="642892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4904184" y="5825133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60977" y="642892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6860977" y="5825133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流程表、洞見講稿、課前通知信、疑難排解、參考解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90600" y="723274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6628954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4904184" y="723274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4904184" y="6628954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兩版共用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6860977" y="723274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6860977" y="6628954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的範本（含 CLAUDE.md）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90600" y="7432774"/>
            <a:ext cx="3802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4904184" y="7432774"/>
            <a:ext cx="1804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 · 主線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6860977" y="7432774"/>
            <a:ext cx="10749516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課堂主線。slides/workbook/site/instructor 自成一套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兩個版本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30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免費版 · 主線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430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聊天介面 + GitHub 網頁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3430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免費帳號即可，不必訂閱、不必安裝。學員自行把回覆存成檔案，總長 195 分鐘。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631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付費版 · 根目錄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631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桌面版 Claude Code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7631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相同的開放式專題架構與成果。適用於主辦方統一付費或學員已有 Pro 以上方案的場次。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90600" y="6417469"/>
            <a:ext cx="10642671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免費版每個提示詞結尾都多一句「請給我完整程式碼」。這是刻意的差異，不是要修掉的不一致。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開課前四件事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25181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432917" y="3102322"/>
            <a:ext cx="6139979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學員只需要免費帳號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32917" y="3689003"/>
            <a:ext cx="6139979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與 GitHub 免費方案即可，不必訂閱、不必安裝。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448800" y="3102322"/>
            <a:ext cx="35197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991279" y="3102322"/>
            <a:ext cx="59931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學員要自己把回覆存成檔案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991279" y="3689003"/>
            <a:ext cx="599313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所以每個提示詞結尾都要寫「請給我完整程式碼」。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" y="4542383"/>
            <a:ext cx="35614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537246" y="4542383"/>
            <a:ext cx="566570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必須是 Public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537246" y="5129064"/>
            <a:ext cx="5665708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若要使用 GitHub Pages，應在 Lab 0 完成設定。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448800" y="4542383"/>
            <a:ext cx="36090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0000208" y="4542383"/>
            <a:ext cx="54483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課前通知信一定要寄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000208" y="5129064"/>
            <a:ext cx="544830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否則課程前段可能需要處理帳號與登入問題。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改教材時的同步規則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71192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98802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動到時間或順序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992094" y="298802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先改該版本的 timeline.md，再往下同步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90600" y="4712047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98814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動到學員要貼的提示詞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992094" y="398814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同一版本的 workbook/ 和 site/index.html 必須逐字一致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0600" y="571217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2" name="Text 10"/>
          <p:cNvSpPr/>
          <p:nvPr/>
        </p:nvSpPr>
        <p:spPr>
          <a:xfrm>
            <a:off x="990600" y="498827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改完隨堂網站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992094" y="498827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各自回到自己原本的網址，兩個網址不互換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90600" y="598839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改完任一版 Lab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992094" y="598839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另一版通常要跟著改，但提示詞不必逐字一致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5724"/>
            <a:ext cx="10454274" cy="2918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65"/>
              </a:lnSpc>
              <a:buNone/>
            </a:pPr>
            <a:r>
              <a:rPr lang="en-US" sz="600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今天完成的不是一組固定答案，而是一套可以重複使用的工作方式。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90600" y="5995095"/>
            <a:ext cx="8514045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問題是否值得處理、目標如何取捨、結果是否正確，仍需要由使用者判斷。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90600" y="7389316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94BC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github.com/htchen/LLM2Life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補充段落：四個觀點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觀點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被記錄下來的文明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模型強的地方，是人類記錄得最密的地方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程式可以自主閉環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產生、執行、讀結果、修正，不需要人介入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物理世界會斷環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執行與觀察只能由人接上，回饋因此變慢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造成差異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只有你有的經驗與取捨，決定它能做到多準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51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能自主驗證的事，會愈來愈快；不能自主驗證的事，仍然靠人。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補充段落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2026-08-26T05:31:34Z</dcterms:created>
  <dcterms:modified xsi:type="dcterms:W3CDTF">2026-08-26T05:31:34Z</dcterms:modified>
</cp:coreProperties>
</file>